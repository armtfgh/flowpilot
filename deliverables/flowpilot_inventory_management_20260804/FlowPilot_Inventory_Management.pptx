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FlowPilot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4688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F6B76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Aptos"/>
              </a:rPr>
              <a:t>Inventory-aware design: the latest FlowPilot addition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F6B76"/>
                </a:solidFill>
                <a:latin typeface="Aptos"/>
              </a:rPr>
              <a:t>A laboratory profile is built once, versioned, and enforced in every batch-to-flow translation.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72768"/>
            <a:ext cx="11183112" cy="0"/>
          </a:xfrm>
          <a:prstGeom prst="line">
            <a:avLst/>
          </a:prstGeom>
          <a:ln w="12700">
            <a:solidFill>
              <a:srgbClr val="D7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02920" y="1874519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 w="12700">
            <a:solidFill>
              <a:srgbClr val="E8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2167127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76271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03911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766E"/>
                </a:solidFill>
                <a:latin typeface="Aptos"/>
              </a:rPr>
              <a:t>Collect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40863"/>
            <a:ext cx="4041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7212B"/>
                </a:solidFill>
                <a:latin typeface="Aptos"/>
              </a:rPr>
              <a:t>Accept laboratory PDFs, PPTX/DOCX files, pasted JSON, or structured forms.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18104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410712"/>
            <a:ext cx="384048" cy="384048"/>
          </a:xfrm>
          <a:prstGeom prst="ellipse">
            <a:avLst/>
          </a:prstGeom>
          <a:solidFill>
            <a:srgbClr val="2F6B9A"/>
          </a:solidFill>
          <a:ln w="1270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419856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28269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2F6B9A"/>
                </a:solidFill>
                <a:latin typeface="Aptos"/>
              </a:rPr>
              <a:t>Normalize +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3584448"/>
            <a:ext cx="4041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7212B"/>
                </a:solidFill>
                <a:latin typeface="Aptos"/>
              </a:rPr>
              <a:t>Convert equipment and operating constraints into one reproducible profile (v2.0).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61688"/>
            <a:ext cx="5166360" cy="987552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2700">
            <a:solidFill>
              <a:srgbClr val="FC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4654296"/>
            <a:ext cx="384048" cy="384048"/>
          </a:xfrm>
          <a:prstGeom prst="ellipse">
            <a:avLst/>
          </a:prstGeom>
          <a:solidFill>
            <a:srgbClr val="C94B4B"/>
          </a:solidFill>
          <a:ln w="12700">
            <a:solidFill>
              <a:srgbClr val="C9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663440"/>
            <a:ext cx="38404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4526279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94B4B"/>
                </a:solidFill>
                <a:latin typeface="Aptos"/>
              </a:rPr>
              <a:t>Enforce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4828031"/>
            <a:ext cx="4041648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7212B"/>
                </a:solidFill>
                <a:latin typeface="Aptos"/>
              </a:rPr>
              <a:t>Snap designs to listed hardware and block unresolved reactor trains, mixers, BPRs, or limits.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1856231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12B"/>
                </a:solidFill>
                <a:latin typeface="Aptos"/>
              </a:rPr>
              <a:t>Example: KHU laboratory profile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53328" y="2221992"/>
            <a:ext cx="5623560" cy="3419856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45059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17212B"/>
                </a:solidFill>
                <a:latin typeface="Aptos"/>
              </a:rPr>
              <a:t>khu_laboratory_inventory</a:t>
            </a:r>
            <a:r>
              <a:rPr sz="1050" b="0">
                <a:solidFill>
                  <a:srgbClr val="5F6B76"/>
                </a:solidFill>
                <a:latin typeface="Aptos"/>
              </a:rPr>
              <a:t>   v1  |  schema v2.0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7648" y="296265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054096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4107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Reactors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296265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65007" y="3054096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Aptos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65007" y="34107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Pumps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2912" y="2962656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3054096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Aptos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41071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Tubing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7648" y="3895344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3986783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Aptos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34340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Gas hardware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55279" y="3895344"/>
            <a:ext cx="141732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7" y="3986783"/>
            <a:ext cx="4754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0F766E"/>
                </a:solidFill>
                <a:latin typeface="Aptos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7" y="434340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BPR settings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7648" y="4846320"/>
            <a:ext cx="5010912" cy="512064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5240">
            <a:solidFill>
              <a:srgbClr val="C9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4992624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C94B4B"/>
                </a:solidFill>
                <a:latin typeface="Aptos"/>
              </a:rPr>
              <a:t>HARD CONSTRAINT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4112" y="4956048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7212B"/>
                </a:solidFill>
                <a:latin typeface="Aptos"/>
              </a:rPr>
              <a:t>No inline degasser  |  BPR not confirmed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888736"/>
            <a:ext cx="11173968" cy="438912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 w="12700">
            <a:solidFill>
              <a:srgbClr val="E8F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6007608"/>
            <a:ext cx="106984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Aptos"/>
              </a:rPr>
              <a:t>Design consequence  </a:t>
            </a:r>
            <a:r>
              <a:rPr sz="1150" b="0">
                <a:solidFill>
                  <a:srgbClr val="17212B"/>
                </a:solidFill>
                <a:latin typeface="Aptos"/>
              </a:rPr>
              <a:t>The agent may propose chemistry, but only inventory-compatible parameters can be shown as an executable design.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Latest release | Inventory Manager + deterministic design disposition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4688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Aptos"/>
              </a:rPr>
              <a:t>FlowPilot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01400" y="246888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F6B76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7212B"/>
                </a:solidFill>
                <a:latin typeface="Aptos"/>
              </a:rPr>
              <a:t>Inventory management: 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110642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5F6B76"/>
                </a:solidFill>
                <a:latin typeface="Aptos"/>
              </a:rPr>
              <a:t>The profile is generated independently, then injected as a frozen hard-constraint layer before design execution.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1572768"/>
            <a:ext cx="11183112" cy="0"/>
          </a:xfrm>
          <a:prstGeom prst="line">
            <a:avLst/>
          </a:prstGeom>
          <a:ln w="12700">
            <a:solidFill>
              <a:srgbClr val="D7DE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178308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Aptos"/>
              </a:rPr>
              <a:t>BUILD ONCE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79592" y="1783080"/>
            <a:ext cx="1920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F6B9A"/>
                </a:solidFill>
                <a:latin typeface="Aptos"/>
              </a:rPr>
              <a:t>REUSE FOR EVERY DESIGN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66543"/>
            <a:ext cx="1572768" cy="1444752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203703"/>
            <a:ext cx="124358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Lab sources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523744"/>
            <a:ext cx="124358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Equipment lists
and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62072"/>
            <a:ext cx="6858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80360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Aptos"/>
              </a:rPr>
              <a:t>PDF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1872" y="2862072"/>
            <a:ext cx="6858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2880360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Aptos"/>
              </a:rPr>
              <a:t>PPTX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291840"/>
            <a:ext cx="685800" cy="438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310128"/>
            <a:ext cx="685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0F766E"/>
                </a:solidFill>
                <a:latin typeface="Aptos"/>
              </a:rPr>
              <a:t>FORM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12264" y="2788920"/>
            <a:ext cx="30175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68880" y="2066543"/>
            <a:ext cx="1755648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33472" y="2203703"/>
            <a:ext cx="142646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Input collector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33472" y="2523744"/>
            <a:ext cx="142646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LLM extraction +
deterministic fallback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2816352"/>
            <a:ext cx="502920" cy="502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2871216"/>
            <a:ext cx="502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61104" y="2788920"/>
            <a:ext cx="30175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617720" y="2066543"/>
            <a:ext cx="1755648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2203703"/>
            <a:ext cx="142646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Aptos"/>
              </a:rPr>
              <a:t>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2523744"/>
            <a:ext cx="142646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Schema validation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28032" y="2862072"/>
            <a:ext cx="1325880" cy="155448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19472" y="2871216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F6B76"/>
                </a:solidFill>
                <a:latin typeface="Aptos"/>
              </a:rPr>
              <a:t>Pumps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3063240"/>
            <a:ext cx="1325880" cy="155448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19472" y="3072384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F6B76"/>
                </a:solidFill>
                <a:latin typeface="Aptos"/>
              </a:rPr>
              <a:t>Reactors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28032" y="3264408"/>
            <a:ext cx="1325880" cy="155448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9472" y="3273552"/>
            <a:ext cx="100584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0">
                <a:solidFill>
                  <a:srgbClr val="5F6B76"/>
                </a:solidFill>
                <a:latin typeface="Aptos"/>
              </a:rPr>
              <a:t>Limits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9944" y="2788920"/>
            <a:ext cx="301752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766560" y="2066543"/>
            <a:ext cx="1938528" cy="1444752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651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31152" y="2203703"/>
            <a:ext cx="16093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F6B9A"/>
                </a:solidFill>
                <a:latin typeface="Aptos"/>
              </a:rPr>
              <a:t>Versioned JSON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2523744"/>
            <a:ext cx="1609344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Equipment + constraints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2788920"/>
            <a:ext cx="1508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2F6B9A"/>
                </a:solidFill>
                <a:latin typeface="Liberation Mono"/>
              </a:rPr>
              <a:t>{ profile_id
  lab_inventory
  operating_limits }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35824" y="3538728"/>
            <a:ext cx="0" cy="521208"/>
          </a:xfrm>
          <a:prstGeom prst="bentConnector3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617720" y="4133087"/>
            <a:ext cx="408736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2F6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82312" y="4270248"/>
            <a:ext cx="3758183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F6B9A"/>
                </a:solidFill>
                <a:latin typeface="Aptos"/>
              </a:rPr>
              <a:t>FlowPilot design 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82312" y="4590288"/>
            <a:ext cx="375818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Standardized intake  →  upstream chemistry  →  engineering + council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73752" y="4837176"/>
            <a:ext cx="3575304" cy="27432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10912" y="4910328"/>
            <a:ext cx="331012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2F6B9A"/>
                </a:solidFill>
                <a:latin typeface="Aptos"/>
              </a:rPr>
              <a:t>Frozen inventory context is injected into every agent prompt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750808" y="4727448"/>
            <a:ext cx="329184" cy="0"/>
          </a:xfrm>
          <a:prstGeom prst="line">
            <a:avLst/>
          </a:prstGeom>
          <a:ln w="25400">
            <a:solidFill>
              <a:srgbClr val="2F6B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134856" y="4133087"/>
            <a:ext cx="2542032" cy="1188720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6510">
            <a:solidFill>
              <a:srgbClr val="C9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99448" y="4270248"/>
            <a:ext cx="22128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94B4B"/>
                </a:solidFill>
                <a:latin typeface="Aptos"/>
              </a:rPr>
              <a:t>Deterministic gate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9448" y="4590288"/>
            <a:ext cx="221284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Exact hardware match
+ geometry closure
+ safety and capability checks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405872" y="5340096"/>
            <a:ext cx="0" cy="182880"/>
          </a:xfrm>
          <a:prstGeom prst="line">
            <a:avLst/>
          </a:prstGeom>
          <a:ln w="20320">
            <a:solidFill>
              <a:srgbClr val="5F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659368" y="5522976"/>
            <a:ext cx="2057400" cy="0"/>
          </a:xfrm>
          <a:prstGeom prst="line">
            <a:avLst/>
          </a:prstGeom>
          <a:ln w="20320">
            <a:solidFill>
              <a:srgbClr val="5F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659368" y="5522976"/>
            <a:ext cx="0" cy="137160"/>
          </a:xfrm>
          <a:prstGeom prst="line">
            <a:avLst/>
          </a:prstGeom>
          <a:ln w="20320">
            <a:solidFill>
              <a:srgbClr val="5F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16768" y="5522976"/>
            <a:ext cx="0" cy="137160"/>
          </a:xfrm>
          <a:prstGeom prst="line">
            <a:avLst/>
          </a:prstGeom>
          <a:ln w="20320">
            <a:solidFill>
              <a:srgbClr val="5F6B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735824" y="5678424"/>
            <a:ext cx="1847088" cy="548640"/>
          </a:xfrm>
          <a:prstGeom prst="roundRect">
            <a:avLst>
              <a:gd name="adj" fmla="val 8000"/>
            </a:avLst>
          </a:prstGeom>
          <a:solidFill>
            <a:srgbClr val="E8F4F2"/>
          </a:solidFill>
          <a:ln w="1651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00416" y="5779008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Aptos"/>
              </a:rPr>
              <a:t>SCREEN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31352" y="5797296"/>
            <a:ext cx="868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7212B"/>
                </a:solidFill>
                <a:latin typeface="Aptos"/>
              </a:rPr>
              <a:t>exact listed hardware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756648" y="5678424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 w="16510">
            <a:solidFill>
              <a:srgbClr val="C9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21240" y="577900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94B4B"/>
                </a:solidFill>
                <a:latin typeface="Aptos"/>
              </a:rPr>
              <a:t>BLOCK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479024" y="5797296"/>
            <a:ext cx="9875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70" b="0">
                <a:solidFill>
                  <a:srgbClr val="17212B"/>
                </a:solidFill>
                <a:latin typeface="Aptos"/>
              </a:rPr>
              <a:t>no diagram or recipe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0352" y="4169663"/>
            <a:ext cx="6583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F6B76"/>
                </a:solidFill>
                <a:latin typeface="Aptos"/>
              </a:rPr>
              <a:t>Example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2920" y="4453128"/>
            <a:ext cx="3639312" cy="1783080"/>
          </a:xfrm>
          <a:prstGeom prst="roundRect">
            <a:avLst>
              <a:gd name="adj" fmla="val 8000"/>
            </a:avLst>
          </a:prstGeom>
          <a:solidFill>
            <a:srgbClr val="F5F7F8"/>
          </a:solidFill>
          <a:ln w="12700"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8952" y="4663440"/>
            <a:ext cx="3154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7212B"/>
                </a:solidFill>
                <a:latin typeface="Aptos"/>
              </a:rPr>
              <a:t>KHU profile + two-stage O₂ process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" y="5065776"/>
            <a:ext cx="749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F766E"/>
                </a:solidFill>
                <a:latin typeface="Aptos"/>
              </a:rPr>
              <a:t>Available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72184" y="5047488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PFA/FEP coils, pumps, O₂ MFC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" y="5404104"/>
            <a:ext cx="749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C94B4B"/>
                </a:solidFill>
                <a:latin typeface="Aptos"/>
              </a:rPr>
              <a:t>Missing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72184" y="5385816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17212B"/>
                </a:solidFill>
                <a:latin typeface="Aptos"/>
              </a:rPr>
              <a:t>confirmed BPR, mixer, serial train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952" y="5742432"/>
            <a:ext cx="7498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C94B4B"/>
                </a:solidFill>
                <a:latin typeface="Aptos"/>
              </a:rPr>
              <a:t>Disposition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472184" y="5724144"/>
            <a:ext cx="2331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7212B"/>
                </a:solidFill>
                <a:latin typeface="Aptos"/>
              </a:rPr>
              <a:t>BLOCK — unresolved hardware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537960"/>
            <a:ext cx="11155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F6B76"/>
                </a:solidFill>
                <a:latin typeface="Aptos"/>
              </a:rPr>
              <a:t>Authority order: measured evidence &gt; hard constraints &gt; protocol facts &gt; hypotheses &gt; model inference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FlowPilot Inventory Management</dc:title>
  <dc:subject>Latest release: inventory-aware batch-to-flow design</dc:subject>
  <dc:creator>FlowPilot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