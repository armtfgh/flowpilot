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3810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5212080"/>
            <a:ext cx="2103120" cy="457200"/>
          </a:xfrm>
          <a:prstGeom prst="rect">
            <a:avLst/>
          </a:prstGeom>
          <a:solidFill>
            <a:srgbClr val="2E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4956048"/>
            <a:ext cx="2103120" cy="256032"/>
          </a:xfrm>
          <a:prstGeom prst="rect">
            <a:avLst/>
          </a:prstGeom>
          <a:solidFill>
            <a:srgbClr val="3D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5440" y="4736592"/>
            <a:ext cx="2103120" cy="219456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0" y="4480560"/>
            <a:ext cx="2103120" cy="256032"/>
          </a:xfrm>
          <a:prstGeom prst="rect">
            <a:avLst/>
          </a:prstGeom>
          <a:solidFill>
            <a:srgbClr val="3D5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5742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9BA7BB"/>
                </a:solidFill>
                <a:latin typeface="Calibri"/>
              </a:rPr>
              <a:t>the high-k layer, engineered by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WORKFLOW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Self-Driving Laboratory for High-k Thin Films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8778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C9D2DE"/>
                </a:solidFill>
                <a:latin typeface="Calibri"/>
              </a:rPr>
              <a:t>Learning structure–property maps of ALD-grown dielectrics with the fewest possible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[Your name]  ·  [Affiliation]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BA7BB"/>
                </a:solidFill>
                <a:latin typeface="Calibri"/>
              </a:rPr>
              <a:t>Prepared for Samsung  ·  July 2026  ·  Confidential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High-k development is rate-limited by measurement, not deposition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126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Vast design space. </a:t>
            </a:r>
            <a:r>
              <a:rPr sz="1450" b="0" i="0">
                <a:solidFill>
                  <a:srgbClr val="5A6472"/>
                </a:solidFill>
                <a:latin typeface="Calibri"/>
              </a:rPr>
              <a:t>HfO₂/ZrO₂-family stacks are tuned by composition, doping, cycle ratios, deposition temperature, plasma conditions, and anneal — a combinatorial space no grid study can cover.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The properties that matter are slow to measure. </a:t>
            </a:r>
            <a:r>
              <a:rPr sz="1450" b="0" i="0">
                <a:solidFill>
                  <a:srgbClr val="5A6472"/>
                </a:solidFill>
                <a:latin typeface="Calibri"/>
              </a:rPr>
              <a:t>Dielectric constant (k), leakage, and breakdown require electrodes, annealing, and probing: hours to days per sample.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Fast measurements exist — but measure the wrong thing. </a:t>
            </a:r>
            <a:r>
              <a:rPr sz="1450" b="0" i="0">
                <a:solidFill>
                  <a:srgbClr val="5A6472"/>
                </a:solidFill>
                <a:latin typeface="Calibri"/>
              </a:rPr>
              <a:t>Ellipsometry, XRR, and XRD take minutes yet report structure, not electrical performance.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B2A4A"/>
                </a:solidFill>
                <a:latin typeface="Calibri"/>
              </a:rPr>
              <a:t>Blind sampling wastes the expensive tier. </a:t>
            </a:r>
            <a:r>
              <a:rPr sz="1450" b="0" i="0">
                <a:solidFill>
                  <a:srgbClr val="5A6472"/>
                </a:solidFill>
                <a:latin typeface="Calibri"/>
              </a:rPr>
              <a:t>Most electrical tests land on samples that teach us nothing new about the process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08760"/>
            <a:ext cx="4617720" cy="3977639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691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The two-tier cost asymmetry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14884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TIER 1 — Structural fingerprint  (minutes)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Spectroscopic ellipsometry · XRR · GIXRD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Non-destructive, automatable, every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148840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69480" y="3703320"/>
            <a:ext cx="41605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TIER 2 — Electrical truth  (hours–days)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Anneal → electrodes → C–V and I–V probing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Gives k, leakage, breakdown — the real objective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Expensive, delicate, human skill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70332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The scarce resource is the electrical measurement — so that is what an intelligent laboratory must spend wisely.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 different kind of SDL: an efficient data engine, not a hero-film hunter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Conventional SDL framing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Objective: autonomously find the single best film.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Optimizer converges, then the dataset is a by-product.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Result transfers poorly when the target spec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82296" cy="1920240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This proposal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Objective: learn the map (process, anneal, structure) → (k, leakage) — and the boundaries of where that map is valid.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Every expensive electrical test is chosen by an algorithm to be maximally informative.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The model itself is the product: reusable for any future spec.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82296" cy="192024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Virtual metrology. </a:t>
            </a:r>
            <a:r>
              <a:rPr sz="1400" b="0" i="0">
                <a:solidFill>
                  <a:srgbClr val="5A6472"/>
                </a:solidFill>
                <a:latin typeface="Calibri"/>
              </a:rPr>
              <a:t>Once trained, a 2-minute optical scan predicts k and leakage — electrical probing becomes the exception, not the routine.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A4A"/>
                </a:solidFill>
                <a:latin typeface="Calibri"/>
              </a:rPr>
              <a:t>Validity mapping. </a:t>
            </a:r>
            <a:r>
              <a:rPr sz="1400" b="0" i="0">
                <a:solidFill>
                  <a:srgbClr val="5A6472"/>
                </a:solidFill>
                <a:latin typeface="Calibri"/>
              </a:rPr>
              <a:t>The model reports where fast measurements reliably predict electrical behavior, and flags regions where hidden variables (phase mixture, interface layers) take over — exactly where the interesting physics and reliability risks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We treat expensive characterization as a scarce resource allocated by an information-gain policy — value that survives any change of material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ALD is the most automation-ready synthesis tool in the fab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The run is already digital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An ALD recipe is a parameter file: pulse/purge times, temperature, plasma power, cycle count.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Optimizer → recipe file → tool: no new robotics needed for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Composition is software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Hf:Zr ratio and dopant level set by supercycle cycle ratios — an integer in the recipe.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No new solutions, targets, or precursor swaps to explore composition.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83296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In-situ metrology for free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In-chamber ellipsometry / QCM give growth-per-cycle and film data every run, without unloading.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A fast autonomous inner loop with zero sample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55448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1114653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Proven starting point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Autonomous ALD process tuning with in-situ feedback has been demonstrated (e.g., Argonne National Laboratory). This proposal extends autonomy from process parameters to film properties — k and leakage — which no published SDL has closed the loop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82296" cy="105156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Honest constraint: 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one run = one composition (uniformity is ALD's virtue). We compensate with sample-efficient algorithms and rich in-situ data — not brute-force throughput.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Spin-coating SDLs had to build the automation; an ALD SDL only has to connect what already exists — and add the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Two nested loops around one decision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PLAN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5C4A1E"/>
                </a:solidFill>
                <a:latin typeface="Calibri"/>
              </a:rPr>
              <a:t>active-learning engine picks next recipe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828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DEPOSIT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3DAE4"/>
                </a:solidFill>
                <a:latin typeface="Calibri"/>
              </a:rPr>
              <a:t>ALD · recipe-as-code supercycles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828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FAST METROLOGY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E2F2EF"/>
                </a:solidFill>
                <a:latin typeface="Calibri"/>
              </a:rPr>
              <a:t>SE · XRR · GIXRD — minutes, every sample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354580.0"/>
            <a:ext cx="731520" cy="0.0"/>
          </a:xfrm>
          <a:prstGeom prst="bentConnector3">
            <a:avLst/>
          </a:prstGeom>
          <a:ln w="27940">
            <a:solidFill>
              <a:srgbClr val="1B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354580.0"/>
            <a:ext cx="731520" cy="0.0"/>
          </a:xfrm>
          <a:prstGeom prst="bentConnector3">
            <a:avLst/>
          </a:prstGeom>
          <a:ln w="27940">
            <a:solidFill>
              <a:srgbClr val="1B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927848" y="1481328"/>
            <a:ext cx="0" cy="347472"/>
          </a:xfrm>
          <a:prstGeom prst="bentConnector3">
            <a:avLst/>
          </a:prstGeom>
          <a:ln w="27940">
            <a:solidFill>
              <a:srgbClr val="2A9D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01368" y="1481328"/>
            <a:ext cx="6126480" cy="0"/>
          </a:xfrm>
          <a:prstGeom prst="bentConnector3">
            <a:avLst/>
          </a:prstGeom>
          <a:ln w="2794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01368" y="1481328"/>
            <a:ext cx="0" cy="347472"/>
          </a:xfrm>
          <a:prstGeom prst="bentConnector3">
            <a:avLst/>
          </a:prstGeom>
          <a:ln w="27940">
            <a:solidFill>
              <a:srgbClr val="2A9D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23360" y="1170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INNER LOOP — fully autonomous, ~minutes</a:t>
            </a:r>
          </a:p>
        </p:txBody>
      </p:sp>
      <p:sp>
        <p:nvSpPr>
          <p:cNvPr id="16" name="Diamond 15"/>
          <p:cNvSpPr/>
          <p:nvPr/>
        </p:nvSpPr>
        <p:spPr>
          <a:xfrm>
            <a:off x="9646920" y="1673352"/>
            <a:ext cx="1737360" cy="13716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E0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ESCALATE?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info gain vs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98280" y="2354580.0"/>
            <a:ext cx="548640" cy="0.0"/>
          </a:xfrm>
          <a:prstGeom prst="bentConnector3">
            <a:avLst/>
          </a:prstGeom>
          <a:ln w="27940">
            <a:solidFill>
              <a:srgbClr val="1B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3977639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ANNEAL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3DAE4"/>
                </a:solidFill>
                <a:latin typeface="Calibri"/>
              </a:rPr>
              <a:t>RTP · thermal budget as model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977639"/>
            <a:ext cx="3017520" cy="10515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ELECTRICAL TEST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3DAE4"/>
                </a:solidFill>
                <a:latin typeface="Calibri"/>
              </a:rPr>
              <a:t>C–V · I–V on pre-patterned substrates — human-executed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977639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UPDATE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E2F2EF"/>
                </a:solidFill>
                <a:latin typeface="Calibri"/>
              </a:rPr>
              <a:t>structure→property map + uncertainty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3044952"/>
            <a:ext cx="0" cy="932687"/>
          </a:xfrm>
          <a:prstGeom prst="bentConnector3">
            <a:avLst/>
          </a:prstGeom>
          <a:ln w="27940">
            <a:solidFill>
              <a:srgbClr val="E09A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092440" y="4503419.0"/>
            <a:ext cx="685800" cy="0.0"/>
          </a:xfrm>
          <a:prstGeom prst="bentConnector3">
            <a:avLst/>
          </a:prstGeom>
          <a:ln w="27940">
            <a:solidFill>
              <a:srgbClr val="1B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389120" y="4503419.0"/>
            <a:ext cx="685800" cy="0.0"/>
          </a:xfrm>
          <a:prstGeom prst="bentConnector3">
            <a:avLst/>
          </a:prstGeom>
          <a:ln w="27940">
            <a:solidFill>
              <a:srgbClr val="1B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37360" y="2880360"/>
            <a:ext cx="0" cy="1097279"/>
          </a:xfrm>
          <a:prstGeom prst="bentConnector3">
            <a:avLst/>
          </a:prstGeom>
          <a:ln w="27940">
            <a:solidFill>
              <a:srgbClr val="E09A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5102351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E09A2B"/>
                </a:solidFill>
                <a:latin typeface="Calibri"/>
              </a:rPr>
              <a:t>OUTER LOOP — algorithm-selected samples only, human-in-the-loop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64845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5A6472"/>
                </a:solidFill>
                <a:latin typeface="Calibri"/>
              </a:rPr>
              <a:t>expert judgment where robots fail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23560"/>
            <a:ext cx="10789920" cy="50292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DATA BACKBONE   </a:t>
            </a:r>
            <a:r>
              <a:rPr sz="1150" b="0" i="0">
                <a:solidFill>
                  <a:srgbClr val="5A6472"/>
                </a:solidFill>
                <a:latin typeface="Calibri"/>
              </a:rPr>
              <a:t>every sample carries full provenance: recipe → tool logs → structural fingerprint → anneal → electrical result  ·  drift-control reference runs scheduled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Multi-fidelity active learning that knows what it doesn't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Model. 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Probabilistic map from structural fingerprint + anneal parameters to k and leakage, with calibrated uncertainty (multi-fidelity Gaussian-process family).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Acquisition. 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Chooses the next recipe AND whether a sample earns escalation to electrical testing — maximizing information gain per unit cost, with the human's time in the cost model.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Two kinds of uncertainty, two actions. 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"Model needs more data" → sample nearby. "Fast measurements cannot resolve this region" → flag for deep analysis (TEM/XPS): hidden-variable physics found automatically.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B2A4A"/>
                </a:solidFill>
                <a:latin typeface="Calibri"/>
              </a:rPr>
              <a:t>Drift-aware by design. </a:t>
            </a:r>
            <a:r>
              <a:rPr sz="1350" b="0" i="0">
                <a:solidFill>
                  <a:srgbClr val="5A6472"/>
                </a:solidFill>
                <a:latin typeface="Calibri"/>
              </a:rPr>
              <a:t>Scheduled reference depositions and replicate measurements separate real materials physics from tool drift and metrology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508760"/>
            <a:ext cx="4480560" cy="40233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B2A4A"/>
                </a:solidFill>
                <a:latin typeface="Calibri"/>
              </a:rPr>
              <a:t>Validated before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4884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In-silico benchmark (month 0–6)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Synthetic HfO₂/HZO landscape built from literature (thickness–anneal–phase–leakage behavior).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Target: reach a fixed map accuracy with ≥3× fewer electrical tests than grid or random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14884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3794760"/>
            <a:ext cx="40233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Calibri"/>
              </a:rPr>
              <a:t>Why this matters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The algorithm is proven on a known ground truth before a single wafer is spent.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A6472"/>
                </a:solidFill>
                <a:latin typeface="Calibri"/>
              </a:rPr>
              <a:t>The same benchmark becomes the acceptance test for the physical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794760"/>
            <a:ext cx="82296" cy="150876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Sampling is steered toward the boundaries where predictability changes — where blind grids waste 90% of their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Proof of mechanism: the decision engine already works in silico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pic>
        <p:nvPicPr>
          <p:cNvPr id="7" name="Picture 6" descr="fig_slid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3112" cy="33382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Result (6 campaigns, identical 150-test budget):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our policy reaches the baselines' final map accuracy with ~half the electrical tests, wastes 16% vs 30–35% of budget in the unlearnable zone, and detects that zone best (AUC 0.74).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What this does NOT claim: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the landscape is synthetic (literature-inspired). It validates the algorithm, not the material physics — and it surfaced two deployment musts: replicate measurements enable validity mapping; an exploration safeguard prevents noise-map lock-in.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Physics aside — the engine demonstrably learns what is learnable, flags what is not, and spends human time where it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 phased roadmap where every stage delivers standalone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" y="1554480"/>
            <a:ext cx="3611880" cy="777240"/>
          </a:xfrm>
          <a:prstGeom prst="chevron">
            <a:avLst/>
          </a:prstGeom>
          <a:solidFill>
            <a:srgbClr val="8A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 0  ·  Months 0–6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8ECF1"/>
                </a:solidFill>
                <a:latin typeface="Calibri"/>
              </a:rPr>
              <a:t>Foundations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Data infrastructure &amp; provenance schema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Retrospective modeling on existing ALD data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In-silico algorithm benchmark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Deliverable: validated decision engine + data backbone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82296" cy="2651760"/>
          </a:xfrm>
          <a:prstGeom prst="roundRect">
            <a:avLst>
              <a:gd name="adj" fmla="val 50000"/>
            </a:avLst>
          </a:prstGeom>
          <a:solidFill>
            <a:srgbClr val="8A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315968" y="1554480"/>
            <a:ext cx="3611880" cy="777240"/>
          </a:xfrm>
          <a:prstGeom prst="chevron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 1  ·  Months 6–18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8ECF1"/>
                </a:solidFill>
                <a:latin typeface="Calibri"/>
              </a:rPr>
              <a:t>Human-in-the-loop SDL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51460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Automated recipes + fast structural loop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Algorithm-selected electrical tests, human-executed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First structure→property map for one material system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Deliverable: virtual-metrology model v1 + mapped process 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514600"/>
            <a:ext cx="82296" cy="2651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083296" y="1554480"/>
            <a:ext cx="3611880" cy="777240"/>
          </a:xfrm>
          <a:prstGeom prst="chevr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 2  ·  Months 18+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8ECF1"/>
                </a:solidFill>
                <a:latin typeface="Calibri"/>
              </a:rPr>
              <a:t>Closing the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51460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Automated sample handling &amp; annealing integration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Expanded palette: dopants, laminates, electrodes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Transfer validation on device-representative stacks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Deliverable: autonomous platform + reusable materials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514600"/>
            <a:ext cx="82296" cy="2651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B2A4A"/>
                </a:solidFill>
                <a:latin typeface="Calibri"/>
              </a:rPr>
              <a:t>De-risked by design: </a:t>
            </a:r>
            <a:r>
              <a:rPr sz="1300" b="0" i="0">
                <a:solidFill>
                  <a:srgbClr val="5A6472"/>
                </a:solidFill>
                <a:latin typeface="Calibri"/>
              </a:rPr>
              <a:t>if Phase 2 automation slips, Phases 0–1 have already delivered the dataset, the trained models, and the process windows — the scientific value does not depend on full autonomy.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What Samsung gets — and how we handle what can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463040" cy="3302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AAB2BC"/>
                </a:solidFill>
                <a:latin typeface="Calibri"/>
              </a:rPr>
              <a:t>Self-Driving Lab for High-k Thin Films — proposal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Virtual metrology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Predict k and leakage of new high-k films from a minutes-long optical scan — with quantified confidence and known validity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5087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Mapped process windows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Safe operating boundaries (thickness, composition, thermal budget) with the failure mechanisms at each edge identified.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0876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83296" y="15087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09728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 compounding dataset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FAIR, provenance-complete recipe→structure→electrical data — reusable for every future dielectric program and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50876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Risks we have designed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43E3E"/>
                </a:solidFill>
                <a:latin typeface="Calibri"/>
              </a:rPr>
              <a:t>⚠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Tool drift &amp; noise mimic physics  — 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scheduled reference runs + replicates; noise terms explicit in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885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43E3E"/>
                </a:solidFill>
                <a:latin typeface="Calibri"/>
              </a:rPr>
              <a:t>⚠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Probe automation is fragile  — 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human-in-the-loop tier + pre-patterned test substrates from day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9087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43E3E"/>
                </a:solidFill>
                <a:latin typeface="Calibri"/>
              </a:rPr>
              <a:t>⚠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Lab optimum ≠ device stack  — 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Phase 2 transfer validation on device-representative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932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43E3E"/>
                </a:solidFill>
                <a:latin typeface="Calibri"/>
              </a:rPr>
              <a:t>⚠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Temperature changes are slow  —  </a:t>
            </a:r>
            <a:r>
              <a:rPr sz="1250" b="0" i="0">
                <a:solidFill>
                  <a:srgbClr val="5A6472"/>
                </a:solidFill>
                <a:latin typeface="Calibri"/>
              </a:rPr>
              <a:t>cost-aware scheduling batches experiments by thermal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9A2B"/>
                </a:solidFill>
                <a:latin typeface="Calibri"/>
              </a:rPr>
              <a:t>Key message 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laboratory that learns where measurements can be trusted — and spends human expertise only where it is irreplaceable.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