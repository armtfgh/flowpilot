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900" b="1" i="0">
                <a:solidFill>
                  <a:srgbClr val="111111"/>
                </a:solidFill>
                <a:latin typeface="Arial"/>
              </a:rPr>
              <a:t>Problem 1 — Answering the requirements directly (indicative numbers)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66928"/>
            <a:ext cx="11548872" cy="2794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621792"/>
            <a:ext cx="11548872" cy="1143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868680"/>
            <a:ext cx="1417320" cy="384048"/>
          </a:xfrm>
          <a:prstGeom prst="rect">
            <a:avLst/>
          </a:prstGeom>
          <a:solidFill>
            <a:srgbClr val="22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923544"/>
            <a:ext cx="12710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Requirement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1737360" y="868680"/>
            <a:ext cx="3749039" cy="384048"/>
          </a:xfrm>
          <a:prstGeom prst="rect">
            <a:avLst/>
          </a:prstGeom>
          <a:solidFill>
            <a:srgbClr val="22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10512" y="923544"/>
            <a:ext cx="36027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Naive fully-automated SDL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399" y="868680"/>
            <a:ext cx="6400800" cy="384048"/>
          </a:xfrm>
          <a:prstGeom prst="rect">
            <a:avLst/>
          </a:prstGeom>
          <a:solidFill>
            <a:srgbClr val="22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59551" y="923544"/>
            <a:ext cx="62544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This proposal (two-tier, human-in-the-loop)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252728"/>
            <a:ext cx="141732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C9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3192" y="1298448"/>
            <a:ext cx="127101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100" b="1" i="0">
                <a:solidFill>
                  <a:srgbClr val="222A35"/>
                </a:solidFill>
                <a:latin typeface="Arial"/>
              </a:rPr>
              <a:t>High-
throughput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37360" y="1252728"/>
            <a:ext cx="3749039" cy="1170432"/>
          </a:xfrm>
          <a:prstGeom prst="rect">
            <a:avLst/>
          </a:prstGeom>
          <a:solidFill>
            <a:srgbClr val="F2F4F6"/>
          </a:solidFill>
          <a:ln w="9525">
            <a:solidFill>
              <a:srgbClr val="C9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10512" y="1298448"/>
            <a:ext cx="3602735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000" b="0" i="0">
                <a:solidFill>
                  <a:srgbClr val="555E6A"/>
                </a:solidFill>
                <a:latin typeface="Arial"/>
              </a:rPr>
              <a:t>Bottlenecked anyway: probing/anneal
robotics limit end-to-end rate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399" y="1252728"/>
            <a:ext cx="640080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C9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59551" y="1298448"/>
            <a:ext cx="625449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000" b="0" i="0">
                <a:solidFill>
                  <a:srgbClr val="222A35"/>
                </a:solidFill>
                <a:latin typeface="Arial"/>
              </a:rPr>
              <a:t>Fast tier: 10–15 structural fingerprints/day + in-situ data every cycle (runs 24/7 unattended). Expensive tier: ~2x fewer electrical tests per insight (shown in silico) — effective throughput is measured in insights/month, not wafers/day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423160"/>
            <a:ext cx="14173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C9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3192" y="2468880"/>
            <a:ext cx="1271016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100" b="1" i="0">
                <a:solidFill>
                  <a:srgbClr val="222A35"/>
                </a:solidFill>
                <a:latin typeface="Arial"/>
              </a:rPr>
              <a:t>Footprint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37360" y="2423160"/>
            <a:ext cx="3749039" cy="960120"/>
          </a:xfrm>
          <a:prstGeom prst="rect">
            <a:avLst/>
          </a:prstGeom>
          <a:solidFill>
            <a:srgbClr val="F2F4F6"/>
          </a:solidFill>
          <a:ln w="9525">
            <a:solidFill>
              <a:srgbClr val="C9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10512" y="2468880"/>
            <a:ext cx="360273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000" b="0" i="0">
                <a:solidFill>
                  <a:srgbClr val="555E6A"/>
                </a:solidFill>
                <a:latin typeface="Arial"/>
              </a:rPr>
              <a:t>150–250 m2 vacuum-integrated cluster
+ custom transfer robotics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399" y="2423160"/>
            <a:ext cx="64008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C9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59551" y="2468880"/>
            <a:ext cx="6254496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000" b="0" i="0">
                <a:solidFill>
                  <a:srgbClr val="222A35"/>
                </a:solidFill>
                <a:latin typeface="Arial"/>
              </a:rPr>
              <a:t>One lab bay, ~60–80 m2: ALD + in-situ ellipsometry, XRR/GIXRD, RTP, probe station — all standard commercial tools, no custom integration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383280"/>
            <a:ext cx="141732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C9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3192" y="3429000"/>
            <a:ext cx="127101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100" b="1" i="0">
                <a:solidFill>
                  <a:srgbClr val="222A35"/>
                </a:solidFill>
                <a:latin typeface="Arial"/>
              </a:rPr>
              <a:t>Cost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737360" y="3383280"/>
            <a:ext cx="3749039" cy="1170432"/>
          </a:xfrm>
          <a:prstGeom prst="rect">
            <a:avLst/>
          </a:prstGeom>
          <a:solidFill>
            <a:srgbClr val="F2F4F6"/>
          </a:solidFill>
          <a:ln w="9525">
            <a:solidFill>
              <a:srgbClr val="C9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10512" y="3429000"/>
            <a:ext cx="3602735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000" b="0" i="0">
                <a:solidFill>
                  <a:srgbClr val="555E6A"/>
                </a:solidFill>
                <a:latin typeface="Arial"/>
              </a:rPr>
              <a:t>$8–15M class, 3+ years of robotics
integration before first value
(cf. Ada: ~$8M for one property)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399" y="3383280"/>
            <a:ext cx="640080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C9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59551" y="3429000"/>
            <a:ext cx="625449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000" b="0" i="0">
                <a:solidFill>
                  <a:srgbClr val="222A35"/>
                </a:solidFill>
                <a:latin typeface="Arial"/>
              </a:rPr>
              <a:t>$1.5–2.5M capex + 2–3 FTE. No bespoke robotics in Phases 0–1; automation added in Phase 2 only where data proves it pays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553712"/>
            <a:ext cx="141732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C9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3192" y="4599432"/>
            <a:ext cx="127101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100" b="1" i="0">
                <a:solidFill>
                  <a:srgbClr val="222A35"/>
                </a:solidFill>
                <a:latin typeface="Arial"/>
              </a:rPr>
              <a:t>Period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737360" y="4553712"/>
            <a:ext cx="3749039" cy="1170432"/>
          </a:xfrm>
          <a:prstGeom prst="rect">
            <a:avLst/>
          </a:prstGeom>
          <a:solidFill>
            <a:srgbClr val="F2F4F6"/>
          </a:solidFill>
          <a:ln w="9525">
            <a:solidFill>
              <a:srgbClr val="C9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10512" y="4599432"/>
            <a:ext cx="3602735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000" b="0" i="0">
                <a:solidFill>
                  <a:srgbClr val="555E6A"/>
                </a:solidFill>
                <a:latin typeface="Arial"/>
              </a:rPr>
              <a:t>Value arrives only after full
integration succeeds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399" y="4553712"/>
            <a:ext cx="640080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C9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59551" y="4599432"/>
            <a:ext cx="625449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000" b="0" i="0">
                <a:solidFill>
                  <a:srgbClr val="222A35"/>
                </a:solidFill>
                <a:latin typeface="Arial"/>
              </a:rPr>
              <a:t>Phase 0 (6 mo): decision engine validated on existing/retrospective data. Phase 1 (by month 12–18): first virtual-metrology model + mapped process window — each phase delivers standalone value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" y="644652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950" b="0" i="1">
                <a:solidFill>
                  <a:srgbClr val="555E6A"/>
                </a:solidFill>
                <a:latin typeface="Arial"/>
              </a:rPr>
              <a:t>Numbers are indicative planning estimates for discussion (tool list &amp; vendor quotes in backup) — the design choice they reflect: spend capital on measurements and intelligence, not on robotizing steps a human does better during R&amp;D.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900" b="1" i="0">
                <a:solidFill>
                  <a:srgbClr val="111111"/>
                </a:solidFill>
                <a:latin typeface="Arial"/>
              </a:rPr>
              <a:t>Problem 1 — From SDL to the fab: what Samsung gets beyond one material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66928"/>
            <a:ext cx="11548872" cy="2794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621792"/>
            <a:ext cx="11548872" cy="1143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50" b="1" i="0">
                <a:solidFill>
                  <a:srgbClr val="1F7A6E"/>
                </a:solidFill>
                <a:latin typeface="Arial"/>
              </a:rPr>
              <a:t>The SDL's product is not a hero film — it is a TRANSLATOR (fast optical/structural data -&gt; electrical performance) plus a map of where that translator is valid. That is fab language: virtual metrology.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234440"/>
            <a:ext cx="278892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" y="1234440"/>
            <a:ext cx="73152" cy="2286000"/>
          </a:xfrm>
          <a:prstGeom prst="roundRect">
            <a:avLst>
              <a:gd name="adj" fmla="val 6000"/>
            </a:avLst>
          </a:prstGeom>
          <a:solidFill>
            <a:srgbClr val="1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" y="1325880"/>
            <a:ext cx="2468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 i="0">
                <a:solidFill>
                  <a:srgbClr val="222A35"/>
                </a:solidFill>
                <a:latin typeface="Arial"/>
              </a:rPr>
              <a:t>1 · R&amp;D acceleration (now)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F7A6E"/>
                </a:solidFill>
                <a:latin typeface="Arial"/>
              </a:rPr>
              <a:t>• </a:t>
            </a:r>
            <a:r>
              <a:rPr sz="1100" b="1" i="0">
                <a:solidFill>
                  <a:srgbClr val="222A35"/>
                </a:solidFill>
                <a:latin typeface="Arial"/>
              </a:rPr>
              <a:t>2x fewer electrical-test cycles </a:t>
            </a:r>
            <a:r>
              <a:rPr sz="1100" b="0" i="0">
                <a:solidFill>
                  <a:srgbClr val="555E6A"/>
                </a:solidFill>
                <a:latin typeface="Arial"/>
              </a:rPr>
              <a:t>to a mapped process window (in-silico result) — directly shortens dielectric screening campaigns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F7A6E"/>
                </a:solidFill>
                <a:latin typeface="Arial"/>
              </a:rPr>
              <a:t>• </a:t>
            </a:r>
            <a:r>
              <a:rPr sz="1100" b="1" i="0">
                <a:solidFill>
                  <a:srgbClr val="222A35"/>
                </a:solidFill>
                <a:latin typeface="Arial"/>
              </a:rPr>
              <a:t>Candidates arrive with confidence labels, </a:t>
            </a:r>
            <a:r>
              <a:rPr sz="1100" b="0" i="0">
                <a:solidFill>
                  <a:srgbClr val="555E6A"/>
                </a:solidFill>
                <a:latin typeface="Arial"/>
              </a:rPr>
              <a:t>not just best guesses — fewer surprises downstream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234440"/>
            <a:ext cx="278892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18688" y="1234440"/>
            <a:ext cx="73152" cy="2286000"/>
          </a:xfrm>
          <a:prstGeom prst="roundRect">
            <a:avLst>
              <a:gd name="adj" fmla="val 6000"/>
            </a:avLst>
          </a:prstGeom>
          <a:solidFill>
            <a:srgbClr val="B9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19856" y="1325880"/>
            <a:ext cx="2468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 i="0">
                <a:solidFill>
                  <a:srgbClr val="222A35"/>
                </a:solidFill>
                <a:latin typeface="Arial"/>
              </a:rPr>
              <a:t>2 · Pilot-line transfer (next)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B97700"/>
                </a:solidFill>
                <a:latin typeface="Arial"/>
              </a:rPr>
              <a:t>• </a:t>
            </a:r>
            <a:r>
              <a:rPr sz="1100" b="1" i="0">
                <a:solidFill>
                  <a:srgbClr val="222A35"/>
                </a:solidFill>
                <a:latin typeface="Arial"/>
              </a:rPr>
              <a:t>The trained translator deploys </a:t>
            </a:r>
            <a:r>
              <a:rPr sz="1100" b="0" i="0">
                <a:solidFill>
                  <a:srgbClr val="555E6A"/>
                </a:solidFill>
                <a:latin typeface="Arial"/>
              </a:rPr>
              <a:t>against inline ellipsometry/XRR that production lines already run on every wafer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B97700"/>
                </a:solidFill>
                <a:latin typeface="Arial"/>
              </a:rPr>
              <a:t>• </a:t>
            </a:r>
            <a:r>
              <a:rPr sz="1100" b="1" i="0">
                <a:solidFill>
                  <a:srgbClr val="222A35"/>
                </a:solidFill>
                <a:latin typeface="Arial"/>
              </a:rPr>
              <a:t>Validity map tells engineers </a:t>
            </a:r>
            <a:r>
              <a:rPr sz="1100" b="0" i="0">
                <a:solidFill>
                  <a:srgbClr val="555E6A"/>
                </a:solidFill>
                <a:latin typeface="Arial"/>
              </a:rPr>
              <a:t>WHEN inline data can replace destructive electrical/TEM sampling — and when it cannot (risk control, not just prediction)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17336" y="1234440"/>
            <a:ext cx="278892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17336" y="1234440"/>
            <a:ext cx="73152" cy="2286000"/>
          </a:xfrm>
          <a:prstGeom prst="roundRect">
            <a:avLst>
              <a:gd name="adj" fmla="val 6000"/>
            </a:avLst>
          </a:prstGeom>
          <a:solidFill>
            <a:srgbClr val="1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18504" y="1325880"/>
            <a:ext cx="2468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 i="0">
                <a:solidFill>
                  <a:srgbClr val="222A35"/>
                </a:solidFill>
                <a:latin typeface="Arial"/>
              </a:rPr>
              <a:t>3 · Compounding data asset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F7A6E"/>
                </a:solidFill>
                <a:latin typeface="Arial"/>
              </a:rPr>
              <a:t>• </a:t>
            </a:r>
            <a:r>
              <a:rPr sz="1100" b="1" i="0">
                <a:solidFill>
                  <a:srgbClr val="222A35"/>
                </a:solidFill>
                <a:latin typeface="Arial"/>
              </a:rPr>
              <a:t>Every sample carries full provenance: </a:t>
            </a:r>
            <a:r>
              <a:rPr sz="1100" b="0" i="0">
                <a:solidFill>
                  <a:srgbClr val="555E6A"/>
                </a:solidFill>
                <a:latin typeface="Arial"/>
              </a:rPr>
              <a:t>recipe -&gt; tool logs -&gt; fingerprint -&gt; anneal -&gt; electrical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F7A6E"/>
                </a:solidFill>
                <a:latin typeface="Arial"/>
              </a:rPr>
              <a:t>• </a:t>
            </a:r>
            <a:r>
              <a:rPr sz="1100" b="1" i="0">
                <a:solidFill>
                  <a:srgbClr val="222A35"/>
                </a:solidFill>
                <a:latin typeface="Arial"/>
              </a:rPr>
              <a:t>Dataset + models transfer </a:t>
            </a:r>
            <a:r>
              <a:rPr sz="1100" b="0" i="0">
                <a:solidFill>
                  <a:srgbClr val="555E6A"/>
                </a:solidFill>
                <a:latin typeface="Arial"/>
              </a:rPr>
              <a:t>to the next dielectric program (doped HfO2, FE-HZO, new precursors) — the asset outlives any single target spec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70848" y="1234440"/>
            <a:ext cx="288036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070848" y="1234440"/>
            <a:ext cx="73152" cy="2286000"/>
          </a:xfrm>
          <a:prstGeom prst="roundRect">
            <a:avLst>
              <a:gd name="adj" fmla="val 6000"/>
            </a:avLst>
          </a:prstGeom>
          <a:solidFill>
            <a:srgbClr val="22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72016" y="1325880"/>
            <a:ext cx="2560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 i="0">
                <a:solidFill>
                  <a:srgbClr val="222A35"/>
                </a:solidFill>
                <a:latin typeface="Arial"/>
              </a:rPr>
              <a:t>Where it lands (examples)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222A35"/>
                </a:solidFill>
                <a:latin typeface="Arial"/>
              </a:rPr>
              <a:t>• </a:t>
            </a:r>
            <a:r>
              <a:rPr sz="1100" b="1" i="0">
                <a:solidFill>
                  <a:srgbClr val="222A35"/>
                </a:solidFill>
                <a:latin typeface="Arial"/>
              </a:rPr>
              <a:t>DRAM capacitor dielectrics: </a:t>
            </a:r>
            <a:r>
              <a:rPr sz="1100" b="0" i="0">
                <a:solidFill>
                  <a:srgbClr val="555E6A"/>
                </a:solidFill>
                <a:latin typeface="Arial"/>
              </a:rPr>
              <a:t>EOT scaling needs new doped ZrO2/HfO2 stacks every node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222A35"/>
                </a:solidFill>
                <a:latin typeface="Arial"/>
              </a:rPr>
              <a:t>• </a:t>
            </a:r>
            <a:r>
              <a:rPr sz="1100" b="1" i="0">
                <a:solidFill>
                  <a:srgbClr val="222A35"/>
                </a:solidFill>
                <a:latin typeface="Arial"/>
              </a:rPr>
              <a:t>GAA / advanced logic gate stacks: </a:t>
            </a:r>
            <a:r>
              <a:rPr sz="1100" b="0" i="0">
                <a:solidFill>
                  <a:srgbClr val="555E6A"/>
                </a:solidFill>
                <a:latin typeface="Arial"/>
              </a:rPr>
              <a:t>interface + leakage co-optimization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222A35"/>
                </a:solidFill>
                <a:latin typeface="Arial"/>
              </a:rPr>
              <a:t>• </a:t>
            </a:r>
            <a:r>
              <a:rPr sz="1100" b="1" i="0">
                <a:solidFill>
                  <a:srgbClr val="222A35"/>
                </a:solidFill>
                <a:latin typeface="Arial"/>
              </a:rPr>
              <a:t>FE-HZO memory: </a:t>
            </a:r>
            <a:r>
              <a:rPr sz="1100" b="0" i="0">
                <a:solidFill>
                  <a:srgbClr val="555E6A"/>
                </a:solidFill>
                <a:latin typeface="Arial"/>
              </a:rPr>
              <a:t>wake-up/endurance vs anneal — same two-tier problem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222A35"/>
                </a:solidFill>
                <a:latin typeface="Arial"/>
              </a:rPr>
              <a:t>• </a:t>
            </a:r>
            <a:r>
              <a:rPr sz="1100" b="1" i="0">
                <a:solidFill>
                  <a:srgbClr val="222A35"/>
                </a:solidFill>
                <a:latin typeface="Arial"/>
              </a:rPr>
              <a:t>Same engine, new objectives: </a:t>
            </a:r>
            <a:r>
              <a:rPr sz="1100" b="0" i="0">
                <a:solidFill>
                  <a:srgbClr val="555E6A"/>
                </a:solidFill>
                <a:latin typeface="Arial"/>
              </a:rPr>
              <a:t>only the metrology list changes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794760"/>
            <a:ext cx="11548872" cy="18288"/>
          </a:xfrm>
          <a:prstGeom prst="rect">
            <a:avLst/>
          </a:prstGeom>
          <a:solidFill>
            <a:srgbClr val="C9C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3931920"/>
            <a:ext cx="11521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00" b="1" i="0">
                <a:solidFill>
                  <a:srgbClr val="222A35"/>
                </a:solidFill>
                <a:latin typeface="Arial"/>
              </a:rPr>
              <a:t>KPI view (how I would be measured): </a:t>
            </a:r>
            <a:r>
              <a:rPr sz="1200" b="0" i="0">
                <a:solidFill>
                  <a:srgbClr val="555E6A"/>
                </a:solidFill>
                <a:latin typeface="Arial"/>
              </a:rPr>
              <a:t>electrical-test wafers per learned process window (target: -50%);  time from 'new candidate material' to 'mapped safe operating window' (target: months, not years);  fraction of routine electrical tests replaced by trusted virtual metrology (target grows every quarter);  dataset reuse across programs (second program should start at ~30% lower cost).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644652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950" b="0" i="1">
                <a:solidFill>
                  <a:srgbClr val="555E6A"/>
                </a:solidFill>
                <a:latin typeface="Arial"/>
              </a:rPr>
              <a:t>This is the industrialization argument: the algorithm is the cheap part — the durable value is a validated translator + provenance-complete data, both of which plug into existing fab practice (inline metrology, APC/FDC), no new fab hardware required.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900" b="1" i="0">
                <a:solidFill>
                  <a:srgbClr val="111111"/>
                </a:solidFill>
                <a:latin typeface="Arial"/>
              </a:rPr>
              <a:t>Problem 1 — Risks I have designed for (and what stays honest)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66928"/>
            <a:ext cx="11548872" cy="2794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621792"/>
            <a:ext cx="11548872" cy="1143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0040" y="868680"/>
            <a:ext cx="11548872" cy="987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0040" y="868680"/>
            <a:ext cx="73152" cy="987552"/>
          </a:xfrm>
          <a:prstGeom prst="roundRect">
            <a:avLst>
              <a:gd name="adj" fmla="val 6000"/>
            </a:avLst>
          </a:prstGeom>
          <a:solidFill>
            <a:srgbClr val="1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93268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1" i="0">
                <a:solidFill>
                  <a:srgbClr val="222A35"/>
                </a:solidFill>
                <a:latin typeface="Arial"/>
              </a:rPr>
              <a:t>Tool drift &amp; metrology noise can mimic physics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52728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555E6A"/>
                </a:solidFill>
                <a:latin typeface="Arial"/>
              </a:rPr>
              <a:t>Scheduled reference depositions + 2 process replicates per batch; noise is an explicit, learned term in the model. In the benchmark, removing replicates collapsed hidden-zone detection to chance — this is load-bearing, not bookkeeping.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947672"/>
            <a:ext cx="11548872" cy="987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0040" y="1947672"/>
            <a:ext cx="73152" cy="987552"/>
          </a:xfrm>
          <a:prstGeom prst="roundRect">
            <a:avLst>
              <a:gd name="adj" fmla="val 6000"/>
            </a:avLst>
          </a:prstGeom>
          <a:solidFill>
            <a:srgbClr val="1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01168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1" i="0">
                <a:solidFill>
                  <a:srgbClr val="222A35"/>
                </a:solidFill>
                <a:latin typeface="Arial"/>
              </a:rPr>
              <a:t>Probe/anneal automation is where thin-film SDLs die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33172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555E6A"/>
                </a:solidFill>
                <a:latin typeface="Arial"/>
              </a:rPr>
              <a:t>Human-in-the-loop tier + pre-patterned test substrates / Hg probe from day one. Robotics only in Phase 2, only where Phase-1 data proves the ROI.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" y="3026664"/>
            <a:ext cx="11548872" cy="987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20040" y="3026664"/>
            <a:ext cx="73152" cy="987552"/>
          </a:xfrm>
          <a:prstGeom prst="roundRect">
            <a:avLst>
              <a:gd name="adj" fmla="val 6000"/>
            </a:avLst>
          </a:prstGeom>
          <a:solidFill>
            <a:srgbClr val="B9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9067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1" i="0">
                <a:solidFill>
                  <a:srgbClr val="222A35"/>
                </a:solidFill>
                <a:latin typeface="Arial"/>
              </a:rPr>
              <a:t>Lab test structure is not the device stack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410712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555E6A"/>
                </a:solidFill>
                <a:latin typeface="Arial"/>
              </a:rPr>
              <a:t>Position outputs as candidate windows; Phase-2 transfer validation on device-representative stacks before any claim reaches a product team.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4105656"/>
            <a:ext cx="11548872" cy="987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20040" y="4105656"/>
            <a:ext cx="73152" cy="987552"/>
          </a:xfrm>
          <a:prstGeom prst="roundRect">
            <a:avLst>
              <a:gd name="adj" fmla="val 6000"/>
            </a:avLst>
          </a:prstGeom>
          <a:solidFill>
            <a:srgbClr val="B9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169664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1" i="0">
                <a:solidFill>
                  <a:srgbClr val="222A35"/>
                </a:solidFill>
                <a:latin typeface="Arial"/>
              </a:rPr>
              <a:t>Algorithm can lock in on a wrong 'untrustworthy' label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489704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555E6A"/>
                </a:solidFill>
                <a:latin typeface="Arial"/>
              </a:rPr>
              <a:t>Found in silico: an early wrong noise estimate can freeze exploration. Fixed with an exploration safeguard (one random pick per batch). Cost to find it in simulation: days. In the lab: months.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0040" y="5184648"/>
            <a:ext cx="11548872" cy="987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20040" y="5184648"/>
            <a:ext cx="73152" cy="987552"/>
          </a:xfrm>
          <a:prstGeom prst="roundRect">
            <a:avLst>
              <a:gd name="adj" fmla="val 6000"/>
            </a:avLst>
          </a:prstGeom>
          <a:solidFill>
            <a:srgbClr val="1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248656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1" i="0">
                <a:solidFill>
                  <a:srgbClr val="222A35"/>
                </a:solidFill>
                <a:latin typeface="Arial"/>
              </a:rPr>
              <a:t>Deposition temperature changes are slow (30-60 min stabilization)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568696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555E6A"/>
                </a:solidFill>
                <a:latin typeface="Arial"/>
              </a:rPr>
              <a:t>Cost-aware scheduling batches experiments by thermal budget — the optimizer pays a modeled price for temperature moves.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644652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950" b="0" i="1">
                <a:solidFill>
                  <a:srgbClr val="555E6A"/>
                </a:solidFill>
                <a:latin typeface="Arial"/>
              </a:rPr>
              <a:t>The honest boundary: the in-silico result validates the decision engine, not the material physics — the first Phase-1 milestone is measuring the real fingerprint-to-electrical signal strength.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900" b="1" i="0">
                <a:solidFill>
                  <a:srgbClr val="111111"/>
                </a:solidFill>
                <a:latin typeface="Arial"/>
              </a:rPr>
              <a:t>Problem 2 — The three requirements map to three architectural decisions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66928"/>
            <a:ext cx="11548872" cy="2794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621792"/>
            <a:ext cx="11548872" cy="1143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0040" y="914400"/>
            <a:ext cx="370332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0040" y="914400"/>
            <a:ext cx="73152" cy="4206240"/>
          </a:xfrm>
          <a:prstGeom prst="roundRect">
            <a:avLst>
              <a:gd name="adj" fmla="val 6000"/>
            </a:avLst>
          </a:prstGeom>
          <a:solidFill>
            <a:srgbClr val="1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" y="1005840"/>
            <a:ext cx="3383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 i="0">
                <a:solidFill>
                  <a:srgbClr val="222A35"/>
                </a:solidFill>
                <a:latin typeface="Arial"/>
              </a:rPr>
              <a:t>REQ 1 · Individual AND integrated operation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1" i="0">
                <a:solidFill>
                  <a:srgbClr val="1F7A6E"/>
                </a:solidFill>
                <a:latin typeface="Arial"/>
              </a:rPr>
              <a:t>• </a:t>
            </a:r>
            <a:r>
              <a:rPr sz="1050" b="1" i="0">
                <a:solidFill>
                  <a:srgbClr val="222A35"/>
                </a:solidFill>
                <a:latin typeface="Arial"/>
              </a:rPr>
              <a:t>Hierarchical control planes: </a:t>
            </a:r>
            <a:r>
              <a:rPr sz="1050" b="0" i="0">
                <a:solidFill>
                  <a:srgbClr val="555E6A"/>
                </a:solidFill>
                <a:latin typeface="Arial"/>
              </a:rPr>
              <a:t>device layer -&gt; per-SDL orchestrator -&gt; fleet layer. Each SDL is fully functional standalone; the fleet layer only coordinates.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1" i="0">
                <a:solidFill>
                  <a:srgbClr val="1F7A6E"/>
                </a:solidFill>
                <a:latin typeface="Arial"/>
              </a:rPr>
              <a:t>• </a:t>
            </a:r>
            <a:r>
              <a:rPr sz="1050" b="1" i="0">
                <a:solidFill>
                  <a:srgbClr val="222A35"/>
                </a:solidFill>
                <a:latin typeface="Arial"/>
              </a:rPr>
              <a:t>Shared modules (robot arms, furnaces, analyzers) </a:t>
            </a:r>
            <a:r>
              <a:rPr sz="1050" b="0" i="0">
                <a:solidFill>
                  <a:srgbClr val="555E6A"/>
                </a:solidFill>
                <a:latin typeface="Arial"/>
              </a:rPr>
              <a:t>are RESOURCES with a reservation-based scheduler — no workflow owns a device, it books capabilities.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1" i="0">
                <a:solidFill>
                  <a:srgbClr val="1F7A6E"/>
                </a:solidFill>
                <a:latin typeface="Arial"/>
              </a:rPr>
              <a:t>• </a:t>
            </a:r>
            <a:r>
              <a:rPr sz="1050" b="1" i="0">
                <a:solidFill>
                  <a:srgbClr val="222A35"/>
                </a:solidFill>
                <a:latin typeface="Arial"/>
              </a:rPr>
              <a:t>Graceful degradation: </a:t>
            </a:r>
            <a:r>
              <a:rPr sz="1050" b="0" i="0">
                <a:solidFill>
                  <a:srgbClr val="555E6A"/>
                </a:solidFill>
                <a:latin typeface="Arial"/>
              </a:rPr>
              <a:t>if the fleet layer is down, every SDL keeps running its local queue. Integration is additive, never a dependency.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1" i="0">
                <a:solidFill>
                  <a:srgbClr val="1F7A6E"/>
                </a:solidFill>
                <a:latin typeface="Arial"/>
              </a:rPr>
              <a:t>• </a:t>
            </a:r>
            <a:r>
              <a:rPr sz="1050" b="1" i="0">
                <a:solidFill>
                  <a:srgbClr val="222A35"/>
                </a:solidFill>
                <a:latin typeface="Arial"/>
              </a:rPr>
              <a:t>Fab analogy: </a:t>
            </a:r>
            <a:r>
              <a:rPr sz="1050" b="0" i="0">
                <a:solidFill>
                  <a:srgbClr val="555E6A"/>
                </a:solidFill>
                <a:latin typeface="Arial"/>
              </a:rPr>
              <a:t>this is MES + equipment-level control, the pattern Samsung already trusts at scale — applied to research labs.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24528" y="914400"/>
            <a:ext cx="370332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224528" y="914400"/>
            <a:ext cx="73152" cy="4206240"/>
          </a:xfrm>
          <a:prstGeom prst="roundRect">
            <a:avLst>
              <a:gd name="adj" fmla="val 6000"/>
            </a:avLst>
          </a:prstGeom>
          <a:solidFill>
            <a:srgbClr val="B9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25696" y="1005840"/>
            <a:ext cx="3383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 i="0">
                <a:solidFill>
                  <a:srgbClr val="222A35"/>
                </a:solidFill>
                <a:latin typeface="Arial"/>
              </a:rPr>
              <a:t>REQ 2 · Usable by non-SDL experts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1" i="0">
                <a:solidFill>
                  <a:srgbClr val="B97700"/>
                </a:solidFill>
                <a:latin typeface="Arial"/>
              </a:rPr>
              <a:t>• </a:t>
            </a:r>
            <a:r>
              <a:rPr sz="1050" b="1" i="0">
                <a:solidFill>
                  <a:srgbClr val="222A35"/>
                </a:solidFill>
                <a:latin typeface="Arial"/>
              </a:rPr>
              <a:t>Researchers compose CAPABILITIES, not devices: </a:t>
            </a:r>
            <a:r>
              <a:rPr sz="1050" b="0" i="0">
                <a:solidFill>
                  <a:srgbClr val="555E6A"/>
                </a:solidFill>
                <a:latin typeface="Arial"/>
              </a:rPr>
              <a:t>a no-code canvas of verbs ('anneal at 500 C', 'measure thickness') — the scheduler resolves which physical tool executes.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1" i="0">
                <a:solidFill>
                  <a:srgbClr val="B97700"/>
                </a:solidFill>
                <a:latin typeface="Arial"/>
              </a:rPr>
              <a:t>• </a:t>
            </a:r>
            <a:r>
              <a:rPr sz="1050" b="1" i="0">
                <a:solidFill>
                  <a:srgbClr val="222A35"/>
                </a:solidFill>
                <a:latin typeface="Arial"/>
              </a:rPr>
              <a:t>Recipe templates per domain </a:t>
            </a:r>
            <a:r>
              <a:rPr sz="1050" b="0" i="0">
                <a:solidFill>
                  <a:srgbClr val="555E6A"/>
                </a:solidFill>
                <a:latin typeface="Arial"/>
              </a:rPr>
              <a:t>(thin film, battery, organic): start from a working experiment, edit parameters, not code.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1" i="0">
                <a:solidFill>
                  <a:srgbClr val="B97700"/>
                </a:solidFill>
                <a:latin typeface="Arial"/>
              </a:rPr>
              <a:t>• </a:t>
            </a:r>
            <a:r>
              <a:rPr sz="1050" b="1" i="0">
                <a:solidFill>
                  <a:srgbClr val="222A35"/>
                </a:solidFill>
                <a:latin typeface="Arial"/>
              </a:rPr>
              <a:t>Dry-run by default: </a:t>
            </a:r>
            <a:r>
              <a:rPr sz="1050" b="0" i="0">
                <a:solidFill>
                  <a:srgbClr val="555E6A"/>
                </a:solidFill>
                <a:latin typeface="Arial"/>
              </a:rPr>
              <a:t>every workflow executes first against the digital twin (simulated devices) — errors surface before hardware moves.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1" i="0">
                <a:solidFill>
                  <a:srgbClr val="B97700"/>
                </a:solidFill>
                <a:latin typeface="Arial"/>
              </a:rPr>
              <a:t>• </a:t>
            </a:r>
            <a:r>
              <a:rPr sz="1050" b="1" i="0">
                <a:solidFill>
                  <a:srgbClr val="222A35"/>
                </a:solidFill>
                <a:latin typeface="Arial"/>
              </a:rPr>
              <a:t>Safety interlocks &amp; approval gates </a:t>
            </a:r>
            <a:r>
              <a:rPr sz="1050" b="0" i="0">
                <a:solidFill>
                  <a:srgbClr val="555E6A"/>
                </a:solidFill>
                <a:latin typeface="Arial"/>
              </a:rPr>
              <a:t>are declared in the device contract, enforced by the orchestrator — not by user discipline.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9016" y="914400"/>
            <a:ext cx="370332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29016" y="914400"/>
            <a:ext cx="73152" cy="4206240"/>
          </a:xfrm>
          <a:prstGeom prst="roundRect">
            <a:avLst>
              <a:gd name="adj" fmla="val 6000"/>
            </a:avLst>
          </a:prstGeom>
          <a:solidFill>
            <a:srgbClr val="22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0184" y="1005840"/>
            <a:ext cx="3383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 i="0">
                <a:solidFill>
                  <a:srgbClr val="222A35"/>
                </a:solidFill>
                <a:latin typeface="Arial"/>
              </a:rPr>
              <a:t>REQ 3 · HW add/change/remove, minimal burden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1" i="0">
                <a:solidFill>
                  <a:srgbClr val="222A35"/>
                </a:solidFill>
                <a:latin typeface="Arial"/>
              </a:rPr>
              <a:t>• </a:t>
            </a:r>
            <a:r>
              <a:rPr sz="1050" b="1" i="0">
                <a:solidFill>
                  <a:srgbClr val="222A35"/>
                </a:solidFill>
                <a:latin typeface="Arial"/>
              </a:rPr>
              <a:t>Device-plugin contract: </a:t>
            </a:r>
            <a:r>
              <a:rPr sz="1050" b="0" i="0">
                <a:solidFill>
                  <a:srgbClr val="555E6A"/>
                </a:solidFill>
                <a:latin typeface="Arial"/>
              </a:rPr>
              <a:t>a containerized driver + a machine-readable capability descriptor (verbs, parameter ranges, units, safety limits, calibration state).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1" i="0">
                <a:solidFill>
                  <a:srgbClr val="222A35"/>
                </a:solidFill>
                <a:latin typeface="Arial"/>
              </a:rPr>
              <a:t>• </a:t>
            </a:r>
            <a:r>
              <a:rPr sz="1050" b="1" i="0">
                <a:solidFill>
                  <a:srgbClr val="222A35"/>
                </a:solidFill>
                <a:latin typeface="Arial"/>
              </a:rPr>
              <a:t>Register -&gt; everything updates automatically: </a:t>
            </a:r>
            <a:r>
              <a:rPr sz="1050" b="0" i="0">
                <a:solidFill>
                  <a:srgbClr val="555E6A"/>
                </a:solidFill>
                <a:latin typeface="Arial"/>
              </a:rPr>
              <a:t>scheduler sees a new resource, GUI auto-generates its panel, provenance logging attaches — zero orchestrator code changes.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1" i="0">
                <a:solidFill>
                  <a:srgbClr val="222A35"/>
                </a:solidFill>
                <a:latin typeface="Arial"/>
              </a:rPr>
              <a:t>• </a:t>
            </a:r>
            <a:r>
              <a:rPr sz="1050" b="1" i="0">
                <a:solidFill>
                  <a:srgbClr val="222A35"/>
                </a:solidFill>
                <a:latin typeface="Arial"/>
              </a:rPr>
              <a:t>Workflows bind to capabilities, not device IDs: </a:t>
            </a:r>
            <a:r>
              <a:rPr sz="1050" b="0" i="0">
                <a:solidFill>
                  <a:srgbClr val="555E6A"/>
                </a:solidFill>
                <a:latin typeface="Arial"/>
              </a:rPr>
              <a:t>swapping a furnace vendor is a config change; no workflow is rewritten.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1" i="0">
                <a:solidFill>
                  <a:srgbClr val="222A35"/>
                </a:solidFill>
                <a:latin typeface="Arial"/>
              </a:rPr>
              <a:t>• </a:t>
            </a:r>
            <a:r>
              <a:rPr sz="1050" b="1" i="0">
                <a:solidFill>
                  <a:srgbClr val="222A35"/>
                </a:solidFill>
                <a:latin typeface="Arial"/>
              </a:rPr>
              <a:t>Versioned configs + twin regression test </a:t>
            </a:r>
            <a:r>
              <a:rPr sz="1050" b="0" i="0">
                <a:solidFill>
                  <a:srgbClr val="555E6A"/>
                </a:solidFill>
                <a:latin typeface="Arial"/>
              </a:rPr>
              <a:t>before a changed device re-enters production use.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" y="5303520"/>
            <a:ext cx="11548872" cy="82296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41324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00" b="1" i="0">
                <a:solidFill>
                  <a:srgbClr val="222A35"/>
                </a:solidFill>
                <a:latin typeface="Arial"/>
              </a:rPr>
              <a:t>One sentence: </a:t>
            </a:r>
            <a:r>
              <a:rPr sz="1200" b="0" i="0">
                <a:solidFill>
                  <a:srgbClr val="555E6A"/>
                </a:solidFill>
                <a:latin typeface="Arial"/>
              </a:rPr>
              <a:t>standardize the CONTRACT (capability descriptor + communication grammar), containerize the drivers, centralize only scheduling and data — then labs scale like fleets, not like one-off projects.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44652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950" b="0" i="1">
                <a:solidFill>
                  <a:srgbClr val="555E6A"/>
                </a:solidFill>
                <a:latin typeface="Arial"/>
              </a:rPr>
              <a:t>Standards I would build on rather than reinvent: SiLA2 / OPC-UA for lab devices (the 'SECS/GEM of the lab'), gRPC for transport, containerized microservices per module.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900" b="1" i="0">
                <a:solidFill>
                  <a:srgbClr val="111111"/>
                </a:solidFill>
                <a:latin typeface="Arial"/>
              </a:rPr>
              <a:t>Problem 2 — 'Minimal burden' made concrete: a new instrument joins in ~1 day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66928"/>
            <a:ext cx="11548872" cy="2794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621792"/>
            <a:ext cx="11548872" cy="1143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0040" y="960120"/>
            <a:ext cx="2212848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0040" y="960120"/>
            <a:ext cx="73152" cy="3017520"/>
          </a:xfrm>
          <a:prstGeom prst="roundRect">
            <a:avLst>
              <a:gd name="adj" fmla="val 6000"/>
            </a:avLst>
          </a:prstGeom>
          <a:solidFill>
            <a:srgbClr val="1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" y="1051560"/>
            <a:ext cx="1892808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222A35"/>
                </a:solidFill>
                <a:latin typeface="Arial"/>
              </a:rPr>
              <a:t>1 · Wrap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1" i="0">
                <a:solidFill>
                  <a:srgbClr val="1F7A6E"/>
                </a:solidFill>
                <a:latin typeface="Arial"/>
              </a:rPr>
              <a:t>• </a:t>
            </a:r>
            <a:r>
              <a:rPr sz="1050" b="0" i="0">
                <a:solidFill>
                  <a:srgbClr val="555E6A"/>
                </a:solidFill>
                <a:latin typeface="Arial"/>
              </a:rPr>
              <a:t>Vendor driver goes into a standard SDK container — whatever the tool speaks (RS-232, Modbus, TCP, vendor DLL), the container's outward face is the universal grammar.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505456" y="2286000"/>
            <a:ext cx="182880" cy="201168"/>
          </a:xfrm>
          <a:prstGeom prst="rightArrow">
            <a:avLst/>
          </a:prstGeom>
          <a:solidFill>
            <a:srgbClr val="555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651760" y="960120"/>
            <a:ext cx="2212848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651760" y="960120"/>
            <a:ext cx="73152" cy="3017520"/>
          </a:xfrm>
          <a:prstGeom prst="roundRect">
            <a:avLst>
              <a:gd name="adj" fmla="val 6000"/>
            </a:avLst>
          </a:prstGeom>
          <a:solidFill>
            <a:srgbClr val="1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52928" y="1051560"/>
            <a:ext cx="1892808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222A35"/>
                </a:solidFill>
                <a:latin typeface="Arial"/>
              </a:rPr>
              <a:t>2 · Declare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1" i="0">
                <a:solidFill>
                  <a:srgbClr val="1F7A6E"/>
                </a:solidFill>
                <a:latin typeface="Arial"/>
              </a:rPr>
              <a:t>• </a:t>
            </a:r>
            <a:r>
              <a:rPr sz="1050" b="0" i="0">
                <a:solidFill>
                  <a:srgbClr val="555E6A"/>
                </a:solidFill>
                <a:latin typeface="Arial"/>
              </a:rPr>
              <a:t>Capability descriptor (YAML): verbs it offers, parameter ranges &amp; units, timing, safety limits, consumables, calibration schedule. This file IS the integration.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837176" y="2286000"/>
            <a:ext cx="182880" cy="201168"/>
          </a:xfrm>
          <a:prstGeom prst="rightArrow">
            <a:avLst/>
          </a:prstGeom>
          <a:solidFill>
            <a:srgbClr val="555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983480" y="960120"/>
            <a:ext cx="2212848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983480" y="960120"/>
            <a:ext cx="73152" cy="3017520"/>
          </a:xfrm>
          <a:prstGeom prst="roundRect">
            <a:avLst>
              <a:gd name="adj" fmla="val 6000"/>
            </a:avLst>
          </a:prstGeom>
          <a:solidFill>
            <a:srgbClr val="B9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84648" y="1051560"/>
            <a:ext cx="1892808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222A35"/>
                </a:solidFill>
                <a:latin typeface="Arial"/>
              </a:rPr>
              <a:t>3 · Register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1" i="0">
                <a:solidFill>
                  <a:srgbClr val="B97700"/>
                </a:solidFill>
                <a:latin typeface="Arial"/>
              </a:rPr>
              <a:t>• </a:t>
            </a:r>
            <a:r>
              <a:rPr sz="1050" b="0" i="0">
                <a:solidFill>
                  <a:srgbClr val="555E6A"/>
                </a:solidFill>
                <a:latin typeface="Arial"/>
              </a:rPr>
              <a:t>Container announces itself to the orchestrator. Scheduler now sees a new bookable resource; data layer attaches provenance logging automatically.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168896" y="2286000"/>
            <a:ext cx="182880" cy="201168"/>
          </a:xfrm>
          <a:prstGeom prst="rightArrow">
            <a:avLst/>
          </a:prstGeom>
          <a:solidFill>
            <a:srgbClr val="555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0" y="960120"/>
            <a:ext cx="2212848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0" y="960120"/>
            <a:ext cx="73152" cy="3017520"/>
          </a:xfrm>
          <a:prstGeom prst="roundRect">
            <a:avLst>
              <a:gd name="adj" fmla="val 6000"/>
            </a:avLst>
          </a:prstGeom>
          <a:solidFill>
            <a:srgbClr val="B9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16368" y="1051560"/>
            <a:ext cx="1892808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222A35"/>
                </a:solidFill>
                <a:latin typeface="Arial"/>
              </a:rPr>
              <a:t>4 · Verify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1" i="0">
                <a:solidFill>
                  <a:srgbClr val="B97700"/>
                </a:solidFill>
                <a:latin typeface="Arial"/>
              </a:rPr>
              <a:t>• </a:t>
            </a:r>
            <a:r>
              <a:rPr sz="1050" b="0" i="0">
                <a:solidFill>
                  <a:srgbClr val="555E6A"/>
                </a:solidFill>
                <a:latin typeface="Arial"/>
              </a:rPr>
              <a:t>Digital-twin dry-run + supervised first runs (shadow mode). Device is 'trusted' only after passing — same discipline as fab equipment qualification.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500616" y="2286000"/>
            <a:ext cx="182880" cy="201168"/>
          </a:xfrm>
          <a:prstGeom prst="rightArrow">
            <a:avLst/>
          </a:prstGeom>
          <a:solidFill>
            <a:srgbClr val="555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646920" y="960120"/>
            <a:ext cx="2212848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646920" y="960120"/>
            <a:ext cx="73152" cy="3017520"/>
          </a:xfrm>
          <a:prstGeom prst="roundRect">
            <a:avLst>
              <a:gd name="adj" fmla="val 6000"/>
            </a:avLst>
          </a:prstGeom>
          <a:solidFill>
            <a:srgbClr val="22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48088" y="1051560"/>
            <a:ext cx="1892808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222A35"/>
                </a:solidFill>
                <a:latin typeface="Arial"/>
              </a:rPr>
              <a:t>5 · Use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1" i="0">
                <a:solidFill>
                  <a:srgbClr val="222A35"/>
                </a:solidFill>
                <a:latin typeface="Arial"/>
              </a:rPr>
              <a:t>• </a:t>
            </a:r>
            <a:r>
              <a:rPr sz="1050" b="0" i="0">
                <a:solidFill>
                  <a:srgbClr val="555E6A"/>
                </a:solidFill>
                <a:latin typeface="Arial"/>
              </a:rPr>
              <a:t>GUI panel auto-generated from the descriptor; existing workflows that request matching capabilities can now be scheduled onto it. No workflow rewrites anywhere.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" y="4251960"/>
            <a:ext cx="11548872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389120"/>
            <a:ext cx="11109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00" b="1" i="0">
                <a:solidFill>
                  <a:srgbClr val="222A35"/>
                </a:solidFill>
                <a:latin typeface="Arial"/>
              </a:rPr>
              <a:t>Why this is the industrially credible answer:  </a:t>
            </a:r>
            <a:r>
              <a:rPr sz="1200" b="0" i="0">
                <a:solidFill>
                  <a:srgbClr val="555E6A"/>
                </a:solidFill>
                <a:latin typeface="Arial"/>
              </a:rPr>
              <a:t>integration cost is the #1 reason lab-automation programs stall. Making the capability descriptor the single integration artifact converts 'integration projects' (weeks of bespoke code, one engineer per instrument) into 'configuration work' (one file + one container). It also future-proofs the fleet: 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00" b="1" i="0">
                <a:solidFill>
                  <a:srgbClr val="222A35"/>
                </a:solidFill>
                <a:latin typeface="Arial"/>
              </a:rPr>
              <a:t>removal </a:t>
            </a:r>
            <a:r>
              <a:rPr sz="1200" b="0" i="0">
                <a:solidFill>
                  <a:srgbClr val="555E6A"/>
                </a:solidFill>
                <a:latin typeface="Arial"/>
              </a:rPr>
              <a:t>is just deregistration (scheduler routes around it);  </a:t>
            </a:r>
            <a:r>
              <a:rPr sz="1200" b="1" i="0">
                <a:solidFill>
                  <a:srgbClr val="222A35"/>
                </a:solidFill>
                <a:latin typeface="Arial"/>
              </a:rPr>
              <a:t>replacement </a:t>
            </a:r>
            <a:r>
              <a:rPr sz="1200" b="0" i="0">
                <a:solidFill>
                  <a:srgbClr val="555E6A"/>
                </a:solidFill>
                <a:latin typeface="Arial"/>
              </a:rPr>
              <a:t>is a descriptor diff;  </a:t>
            </a:r>
            <a:r>
              <a:rPr sz="1200" b="1" i="0">
                <a:solidFill>
                  <a:srgbClr val="222A35"/>
                </a:solidFill>
                <a:latin typeface="Arial"/>
              </a:rPr>
              <a:t>upgrades </a:t>
            </a:r>
            <a:r>
              <a:rPr sz="1200" b="0" i="0">
                <a:solidFill>
                  <a:srgbClr val="555E6A"/>
                </a:solidFill>
                <a:latin typeface="Arial"/>
              </a:rPr>
              <a:t>are versioned and twin-tested before re-entering service — the same lifecycle discipline fabs apply to production equipment, scaled down to research.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644652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950" b="0" i="1">
                <a:solidFill>
                  <a:srgbClr val="555E6A"/>
                </a:solidFill>
                <a:latin typeface="Arial"/>
              </a:rPr>
              <a:t>This slide operationalizes the microservice diagram: the architecture is the same — this is the day-in-the-life proof that the burden is actually minimal.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900" b="1" i="0">
                <a:solidFill>
                  <a:srgbClr val="111111"/>
                </a:solidFill>
                <a:latin typeface="Arial"/>
              </a:rPr>
              <a:t>Problem 2 — The two hard problems under the hood: shared-resource scheduling &amp;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66928"/>
            <a:ext cx="11548872" cy="2794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621792"/>
            <a:ext cx="11548872" cy="1143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0040" y="914400"/>
            <a:ext cx="562356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0040" y="914400"/>
            <a:ext cx="73152" cy="4114800"/>
          </a:xfrm>
          <a:prstGeom prst="roundRect">
            <a:avLst>
              <a:gd name="adj" fmla="val 6000"/>
            </a:avLst>
          </a:prstGeom>
          <a:solidFill>
            <a:srgbClr val="1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" y="1005840"/>
            <a:ext cx="5303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 i="0">
                <a:solidFill>
                  <a:srgbClr val="222A35"/>
                </a:solidFill>
                <a:latin typeface="Arial"/>
              </a:rPr>
              <a:t>Scheduling shared modules (the real multi-SDL problem)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F7A6E"/>
                </a:solidFill>
                <a:latin typeface="Arial"/>
              </a:rPr>
              <a:t>• </a:t>
            </a:r>
            <a:r>
              <a:rPr sz="1100" b="1" i="0">
                <a:solidFill>
                  <a:srgbClr val="222A35"/>
                </a:solidFill>
                <a:latin typeface="Arial"/>
              </a:rPr>
              <a:t>Reservation-based allocation: </a:t>
            </a:r>
            <a:r>
              <a:rPr sz="1100" b="0" i="0">
                <a:solidFill>
                  <a:srgbClr val="555E6A"/>
                </a:solidFill>
                <a:latin typeface="Arial"/>
              </a:rPr>
              <a:t>workflows request capability + time window; the scheduler books physical resources — shared robot arms and furnaces stop being collision points.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F7A6E"/>
                </a:solidFill>
                <a:latin typeface="Arial"/>
              </a:rPr>
              <a:t>• </a:t>
            </a:r>
            <a:r>
              <a:rPr sz="1100" b="1" i="0">
                <a:solidFill>
                  <a:srgbClr val="222A35"/>
                </a:solidFill>
                <a:latin typeface="Arial"/>
              </a:rPr>
              <a:t>Priorities &amp; preemption policy: </a:t>
            </a:r>
            <a:r>
              <a:rPr sz="1100" b="0" i="0">
                <a:solidFill>
                  <a:srgbClr val="555E6A"/>
                </a:solidFill>
                <a:latin typeface="Arial"/>
              </a:rPr>
              <a:t>campaign deadlines, maintenance windows, and calibration runs coexist by policy, not by hallway negotiation.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F7A6E"/>
                </a:solidFill>
                <a:latin typeface="Arial"/>
              </a:rPr>
              <a:t>• </a:t>
            </a:r>
            <a:r>
              <a:rPr sz="1100" b="1" i="0">
                <a:solidFill>
                  <a:srgbClr val="222A35"/>
                </a:solidFill>
                <a:latin typeface="Arial"/>
              </a:rPr>
              <a:t>Deadlock avoidance: </a:t>
            </a:r>
            <a:r>
              <a:rPr sz="1100" b="0" i="0">
                <a:solidFill>
                  <a:srgbClr val="555E6A"/>
                </a:solidFill>
                <a:latin typeface="Arial"/>
              </a:rPr>
              <a:t>all-or-nothing resource acquisition per workflow step (no workflow holds the robot while waiting for a busy furnace).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F7A6E"/>
                </a:solidFill>
                <a:latin typeface="Arial"/>
              </a:rPr>
              <a:t>• </a:t>
            </a:r>
            <a:r>
              <a:rPr sz="1100" b="1" i="0">
                <a:solidFill>
                  <a:srgbClr val="222A35"/>
                </a:solidFill>
                <a:latin typeface="Arial"/>
              </a:rPr>
              <a:t>Fairness across SDLs: </a:t>
            </a:r>
            <a:r>
              <a:rPr sz="1100" b="0" i="0">
                <a:solidFill>
                  <a:srgbClr val="555E6A"/>
                </a:solidFill>
                <a:latin typeface="Arial"/>
              </a:rPr>
              <a:t>per-lab budgets/quotas so one hot project cannot starve the others.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F7A6E"/>
                </a:solidFill>
                <a:latin typeface="Arial"/>
              </a:rPr>
              <a:t>• </a:t>
            </a:r>
            <a:r>
              <a:rPr sz="1100" b="1" i="0">
                <a:solidFill>
                  <a:srgbClr val="222A35"/>
                </a:solidFill>
                <a:latin typeface="Arial"/>
              </a:rPr>
              <a:t>Failure containment: </a:t>
            </a:r>
            <a:r>
              <a:rPr sz="1100" b="0" i="0">
                <a:solidFill>
                  <a:srgbClr val="555E6A"/>
                </a:solidFill>
                <a:latin typeface="Arial"/>
              </a:rPr>
              <a:t>a faulted device is quarantined; queued steps re-route to equivalent capabilities or pause cleanly — the fleet never cascades.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914400"/>
            <a:ext cx="566928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914400"/>
            <a:ext cx="73152" cy="4114800"/>
          </a:xfrm>
          <a:prstGeom prst="roundRect">
            <a:avLst>
              <a:gd name="adj" fmla="val 6000"/>
            </a:avLst>
          </a:prstGeom>
          <a:solidFill>
            <a:srgbClr val="22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3368" y="1005840"/>
            <a:ext cx="5349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 i="0">
                <a:solidFill>
                  <a:srgbClr val="222A35"/>
                </a:solidFill>
                <a:latin typeface="Arial"/>
              </a:rPr>
              <a:t>One data backbone for every SDL (thin film, battery, organic...)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222A35"/>
                </a:solidFill>
                <a:latin typeface="Arial"/>
              </a:rPr>
              <a:t>• </a:t>
            </a:r>
            <a:r>
              <a:rPr sz="1100" b="1" i="0">
                <a:solidFill>
                  <a:srgbClr val="222A35"/>
                </a:solidFill>
                <a:latin typeface="Arial"/>
              </a:rPr>
              <a:t>Sample-centric provenance graph: </a:t>
            </a:r>
            <a:r>
              <a:rPr sz="1100" b="0" i="0">
                <a:solidFill>
                  <a:srgbClr val="555E6A"/>
                </a:solidFill>
                <a:latin typeface="Arial"/>
              </a:rPr>
              <a:t>recipe -&gt; device logs -&gt; measurements -&gt; model decisions — one queryable record per sample, across labs and modalities.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222A35"/>
                </a:solidFill>
                <a:latin typeface="Arial"/>
              </a:rPr>
              <a:t>• </a:t>
            </a:r>
            <a:r>
              <a:rPr sz="1100" b="1" i="0">
                <a:solidFill>
                  <a:srgbClr val="222A35"/>
                </a:solidFill>
                <a:latin typeface="Arial"/>
              </a:rPr>
              <a:t>Shared schema, domain-specific vocabularies: </a:t>
            </a:r>
            <a:r>
              <a:rPr sz="1100" b="0" i="0">
                <a:solidFill>
                  <a:srgbClr val="555E6A"/>
                </a:solidFill>
                <a:latin typeface="Arial"/>
              </a:rPr>
              <a:t>units, materials, and method ontologies per domain plug into one common core — integration without forcing uniformity.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222A35"/>
                </a:solidFill>
                <a:latin typeface="Arial"/>
              </a:rPr>
              <a:t>• </a:t>
            </a:r>
            <a:r>
              <a:rPr sz="1100" b="1" i="0">
                <a:solidFill>
                  <a:srgbClr val="222A35"/>
                </a:solidFill>
                <a:latin typeface="Arial"/>
              </a:rPr>
              <a:t>Streaming telemetry with drift alarms: </a:t>
            </a:r>
            <a:r>
              <a:rPr sz="1100" b="0" i="0">
                <a:solidFill>
                  <a:srgbClr val="555E6A"/>
                </a:solidFill>
                <a:latin typeface="Arial"/>
              </a:rPr>
              <a:t>FDC-style monitoring for research tools (reference-run tracking catches drift before it poisons a campaign).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222A35"/>
                </a:solidFill>
                <a:latin typeface="Arial"/>
              </a:rPr>
              <a:t>• </a:t>
            </a:r>
            <a:r>
              <a:rPr sz="1100" b="1" i="0">
                <a:solidFill>
                  <a:srgbClr val="222A35"/>
                </a:solidFill>
                <a:latin typeface="Arial"/>
              </a:rPr>
              <a:t>Decisions are data too: </a:t>
            </a:r>
            <a:r>
              <a:rPr sz="1100" b="0" i="0">
                <a:solidFill>
                  <a:srgbClr val="555E6A"/>
                </a:solidFill>
                <a:latin typeface="Arial"/>
              </a:rPr>
              <a:t>every algorithm suggestion is logged with model version + inputs — full auditability, reproducible campaigns, and the training corpus for the next generation of models.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222A35"/>
                </a:solidFill>
                <a:latin typeface="Arial"/>
              </a:rPr>
              <a:t>• </a:t>
            </a:r>
            <a:r>
              <a:rPr sz="1100" b="1" i="0">
                <a:solidFill>
                  <a:srgbClr val="222A35"/>
                </a:solidFill>
                <a:latin typeface="Arial"/>
              </a:rPr>
              <a:t>This is the asset that compounds: </a:t>
            </a:r>
            <a:r>
              <a:rPr sz="1100" b="0" i="0">
                <a:solidFill>
                  <a:srgbClr val="555E6A"/>
                </a:solidFill>
                <a:latin typeface="Arial"/>
              </a:rPr>
              <a:t>hardware depreciates; the provenance-complete dataset and the models trained on it appreciate.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5257800"/>
            <a:ext cx="11548872" cy="91440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376672"/>
            <a:ext cx="11109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00" b="1" i="0">
                <a:solidFill>
                  <a:srgbClr val="222A35"/>
                </a:solidFill>
                <a:latin typeface="Arial"/>
              </a:rPr>
              <a:t>Positioning: </a:t>
            </a:r>
            <a:r>
              <a:rPr sz="1200" b="0" i="0">
                <a:solidFill>
                  <a:srgbClr val="555E6A"/>
                </a:solidFill>
                <a:latin typeface="Arial"/>
              </a:rPr>
              <a:t>the GUI and microservices make the system usable; the scheduler and the data backbone make it an INSTITUTIONAL capability — multiple labs, one operational discipline, one growing asset. That is the difference between a lab demo and infrastructure a company runs for ten years.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644652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950" b="0" i="1">
                <a:solidFill>
                  <a:srgbClr val="555E6A"/>
                </a:solidFill>
                <a:latin typeface="Arial"/>
              </a:rPr>
              <a:t>Both components are deliberately boring technology (reservation schedulers, message queues, versioned schemas) — novelty lives in the decision algorithms, reliability lives here.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