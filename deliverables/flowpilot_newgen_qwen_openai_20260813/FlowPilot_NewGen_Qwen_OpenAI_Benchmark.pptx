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87F73"/>
                </a:solidFill>
                <a:latin typeface="Aptos"/>
              </a:rPr>
              <a:t>FlowPilot | NewGen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A75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5202B"/>
                </a:solidFill>
                <a:latin typeface="Aptos"/>
              </a:rPr>
              <a:t>FlowPilot improves design assurance across model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E6A75"/>
                </a:solidFill>
                <a:latin typeface="Aptos"/>
              </a:rPr>
              <a:t>Matched architecture comparison using identical protocols, inventories, model identity and scoring within each pair.</a:t>
            </a:r>
          </a:p>
        </p:txBody>
      </p:sp>
      <p:pic>
        <p:nvPicPr>
          <p:cNvPr id="6" name="Picture 5" descr="paired_quality_as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72768"/>
            <a:ext cx="8046720" cy="25176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719072"/>
            <a:ext cx="2816352" cy="106984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56231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87F73"/>
                </a:solidFill>
                <a:latin typeface="Aptos"/>
              </a:rPr>
              <a:t>Qwen3.6-27B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48839"/>
            <a:ext cx="2377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5202B"/>
                </a:solidFill>
                <a:latin typeface="Aptos"/>
              </a:rPr>
              <a:t>0.674 → 0.958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23744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6A75"/>
                </a:solidFill>
                <a:latin typeface="Aptos"/>
              </a:rPr>
              <a:t>architecture uplift  +0.284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26663"/>
            <a:ext cx="2816352" cy="1069848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163823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6F9F"/>
                </a:solidFill>
                <a:latin typeface="Aptos"/>
              </a:rPr>
              <a:t>GPT-5.4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6431"/>
            <a:ext cx="2377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5202B"/>
                </a:solidFill>
                <a:latin typeface="Aptos"/>
              </a:rPr>
              <a:t>0.742 → 0.953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831335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6A75"/>
                </a:solidFill>
                <a:latin typeface="Aptos"/>
              </a:rPr>
              <a:t>architecture uplift  +0.212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89120"/>
            <a:ext cx="2816352" cy="932688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2700"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54456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87F73"/>
                </a:solidFill>
                <a:latin typeface="Aptos"/>
              </a:rPr>
              <a:t>6 /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590288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202B"/>
                </a:solidFill>
                <a:latin typeface="Aptos"/>
              </a:rPr>
              <a:t>paired QA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95604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6A75"/>
                </a:solidFill>
                <a:latin typeface="Aptos"/>
              </a:rPr>
              <a:t>All six full-pipeline outputs closed as executable SCREEN designs.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96128"/>
            <a:ext cx="11173968" cy="585216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F0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7607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18B20"/>
                </a:solidFill>
                <a:latin typeface="Aptos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5733288"/>
            <a:ext cx="9646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15202B"/>
                </a:solidFill>
                <a:latin typeface="Aptos"/>
              </a:rPr>
              <a:t>The same model becomes more dependable when coupled to retrieval, engineering calculations, inventory enforcement, specialist review and a final deterministic contract.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5E6A75"/>
                </a:solidFill>
                <a:latin typeface="Aptos"/>
              </a:rPr>
              <a:t>Three cases; one run per model–architecture–case cell; QA is not wet-lab yield accuracy.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87F73"/>
                </a:solidFill>
                <a:latin typeface="Aptos"/>
              </a:rPr>
              <a:t>FlowPilot | NewGen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A7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5202B"/>
                </a:solidFill>
                <a:latin typeface="Aptos"/>
              </a:rPr>
              <a:t>How the matched benchmark was executed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E6A75"/>
                </a:solidFill>
                <a:latin typeface="Aptos"/>
              </a:rPr>
              <a:t>The model is controlled within each pair; only the architecture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01952"/>
            <a:ext cx="2057400" cy="2212848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2D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6F9F"/>
                </a:solidFill>
                <a:latin typeface="Aptos"/>
              </a:rPr>
              <a:t>1  Freeze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16916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Aptos"/>
              </a:rPr>
              <a:t>Protocol + objective
Inventory + limits
Held-out source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901952"/>
            <a:ext cx="2148840" cy="221284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084831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87F73"/>
                </a:solidFill>
                <a:latin typeface="Aptos"/>
              </a:rPr>
              <a:t>2  Two matched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514600"/>
            <a:ext cx="17830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Aptos"/>
              </a:rPr>
              <a:t>ONE-SHOT
One model call
FLOWPILOT
Upstream + retrieval +
calculator + council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901952"/>
            <a:ext cx="2331720" cy="2212848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D1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084831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18B20"/>
                </a:solidFill>
                <a:latin typeface="Aptos"/>
              </a:rPr>
              <a:t>3  Deterministic 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514600"/>
            <a:ext cx="19659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Aptos"/>
              </a:rPr>
              <a:t>Pump/MFC bounds
Exact reactor assignment
Gas basis + residence time
Safety + topology 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85632" y="1901952"/>
            <a:ext cx="3154680" cy="2212848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2D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1" y="2084831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6F9F"/>
                </a:solidFill>
                <a:latin typeface="Aptos"/>
              </a:rPr>
              <a:t>4  Universal 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1" y="2514600"/>
            <a:ext cx="2788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Aptos"/>
              </a:rPr>
              <a:t>7 fixed QA dimensions
Same weights for every case
Readiness gates
No held-out answer in prompt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15184" y="2999232"/>
            <a:ext cx="356616" cy="0"/>
          </a:xfrm>
          <a:prstGeom prst="line">
            <a:avLst/>
          </a:prstGeom>
          <a:ln w="25400">
            <a:solidFill>
              <a:srgbClr val="08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66944" y="2999232"/>
            <a:ext cx="310896" cy="0"/>
          </a:xfrm>
          <a:prstGeom prst="line">
            <a:avLst/>
          </a:prstGeom>
          <a:ln w="25400">
            <a:solidFill>
              <a:srgbClr val="08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65008" y="2999232"/>
            <a:ext cx="329184" cy="0"/>
          </a:xfrm>
          <a:prstGeom prst="line">
            <a:avLst/>
          </a:prstGeom>
          <a:ln w="25400">
            <a:solidFill>
              <a:srgbClr val="087F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4453128"/>
            <a:ext cx="11137392" cy="1389888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2700"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64515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5202B"/>
                </a:solidFill>
                <a:latin typeface="Aptos"/>
              </a:rPr>
              <a:t>Quality-assurance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4572000"/>
            <a:ext cx="818388" cy="594360"/>
          </a:xfrm>
          <a:prstGeom prst="rect">
            <a:avLst/>
          </a:prstGeom>
          <a:solidFill>
            <a:srgbClr val="2D6F9F"/>
          </a:solidFill>
          <a:ln w="12700">
            <a:solidFill>
              <a:srgbClr val="2D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663440"/>
            <a:ext cx="8183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Validity
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2988" y="4572000"/>
            <a:ext cx="2045969" cy="594360"/>
          </a:xfrm>
          <a:prstGeom prst="rect">
            <a:avLst/>
          </a:prstGeom>
          <a:solidFill>
            <a:srgbClr val="087F73"/>
          </a:solidFill>
          <a:ln w="1270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2988" y="4663440"/>
            <a:ext cx="20459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Engineering
25%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78958" y="4572000"/>
            <a:ext cx="1227581" cy="594360"/>
          </a:xfrm>
          <a:prstGeom prst="rect">
            <a:avLst/>
          </a:prstGeom>
          <a:solidFill>
            <a:srgbClr val="5C9B8E"/>
          </a:solidFill>
          <a:ln w="12700">
            <a:solidFill>
              <a:srgbClr val="5C9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8958" y="4663440"/>
            <a:ext cx="122758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Process
15%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6540" y="4572000"/>
            <a:ext cx="1227581" cy="594360"/>
          </a:xfrm>
          <a:prstGeom prst="rect">
            <a:avLst/>
          </a:prstGeom>
          <a:solidFill>
            <a:srgbClr val="D18B20"/>
          </a:solidFill>
          <a:ln w="12700">
            <a:solidFill>
              <a:srgbClr val="D18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6540" y="4663440"/>
            <a:ext cx="122758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Safety
15%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34121" y="4572000"/>
            <a:ext cx="818388" cy="594360"/>
          </a:xfrm>
          <a:prstGeom prst="rect">
            <a:avLst/>
          </a:prstGeom>
          <a:solidFill>
            <a:srgbClr val="6586A0"/>
          </a:solidFill>
          <a:ln w="12700">
            <a:solidFill>
              <a:srgbClr val="658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4121" y="4663440"/>
            <a:ext cx="8183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Evidence
10%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52509" y="4572000"/>
            <a:ext cx="1636776" cy="594360"/>
          </a:xfrm>
          <a:prstGeom prst="rect">
            <a:avLst/>
          </a:prstGeom>
          <a:solidFill>
            <a:srgbClr val="735D8E"/>
          </a:solidFill>
          <a:ln w="12700">
            <a:solidFill>
              <a:srgbClr val="735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2509" y="4663440"/>
            <a:ext cx="16367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ptos"/>
              </a:rPr>
              <a:t>Decision
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89285" y="4572000"/>
            <a:ext cx="409194" cy="594360"/>
          </a:xfrm>
          <a:prstGeom prst="rect">
            <a:avLst/>
          </a:prstGeom>
          <a:solidFill>
            <a:srgbClr val="8D98A1"/>
          </a:solidFill>
          <a:ln w="12700">
            <a:solidFill>
              <a:srgbClr val="8D9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9285" y="4663440"/>
            <a:ext cx="40919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Cal.
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5367528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6A75"/>
                </a:solidFill>
                <a:latin typeface="Aptos"/>
              </a:rPr>
              <a:t>Hard gates cap readiness when schema, gas bookkeeping, geometry, pumps/tubing, topology, or safety fail.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6053328"/>
            <a:ext cx="11137392" cy="347472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6144768"/>
            <a:ext cx="10698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87F73"/>
                </a:solidFill>
                <a:latin typeface="Aptos"/>
              </a:rPr>
              <a:t>Controlled variables: candidate budget = 1  |  temperature = 0 where provider-supported  |  lexical retrieval  |  source answer excluded  |  same case-specific inventory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5E6A75"/>
                </a:solidFill>
                <a:latin typeface="Aptos"/>
              </a:rPr>
              <a:t>Models: /models/Qwen3.6-27B and gpt-5.4-2026-03-05. Each model is used for both its one-shot and FlowPilot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87F73"/>
                </a:solidFill>
                <a:latin typeface="Aptos"/>
              </a:rPr>
              <a:t>FlowPilot | NewGen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A7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5202B"/>
                </a:solidFill>
                <a:latin typeface="Aptos"/>
              </a:rPr>
              <a:t>Why the architecture changes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E6A75"/>
                </a:solidFill>
                <a:latin typeface="Aptos"/>
              </a:rPr>
              <a:t>One-shot numeric closure can be strong; FlowPilot adds traceable decision and process assurance.</a:t>
            </a:r>
          </a:p>
        </p:txBody>
      </p:sp>
      <p:pic>
        <p:nvPicPr>
          <p:cNvPr id="6" name="Picture 5" descr="quality_dimens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406640" cy="25935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755648"/>
            <a:ext cx="3502152" cy="4343400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2700"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975104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202B"/>
                </a:solidFill>
                <a:latin typeface="Aptos"/>
              </a:rPr>
              <a:t>Observed interventions</a:t>
            </a:r>
          </a:p>
        </p:txBody>
      </p:sp>
      <p:sp>
        <p:nvSpPr>
          <p:cNvPr id="9" name="Oval 8"/>
          <p:cNvSpPr/>
          <p:nvPr/>
        </p:nvSpPr>
        <p:spPr>
          <a:xfrm>
            <a:off x="8458200" y="2505456"/>
            <a:ext cx="118872" cy="118872"/>
          </a:xfrm>
          <a:prstGeom prst="ellipse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468880"/>
            <a:ext cx="2697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02B"/>
                </a:solidFill>
                <a:latin typeface="Aptos"/>
              </a:rPr>
              <a:t>Rejected unsupported residence-time reductions.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458200" y="3163824"/>
            <a:ext cx="118872" cy="118872"/>
          </a:xfrm>
          <a:prstGeom prst="ellipse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127248"/>
            <a:ext cx="2697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02B"/>
                </a:solidFill>
                <a:latin typeface="Aptos"/>
              </a:rPr>
              <a:t>Recomputed V/Q and stage-specific cumulative flows.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0" y="3822191"/>
            <a:ext cx="118872" cy="118872"/>
          </a:xfrm>
          <a:prstGeom prst="ellipse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785615"/>
            <a:ext cx="2697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02B"/>
                </a:solidFill>
                <a:latin typeface="Aptos"/>
              </a:rPr>
              <a:t>Converted H₂ inlet/STP flow to in-channel flow and equivalents.</a:t>
            </a:r>
          </a:p>
        </p:txBody>
      </p:sp>
      <p:sp>
        <p:nvSpPr>
          <p:cNvPr id="15" name="Oval 14"/>
          <p:cNvSpPr/>
          <p:nvPr/>
        </p:nvSpPr>
        <p:spPr>
          <a:xfrm>
            <a:off x="8458200" y="4480559"/>
            <a:ext cx="118872" cy="118872"/>
          </a:xfrm>
          <a:prstGeom prst="ellipse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443983"/>
            <a:ext cx="2697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02B"/>
                </a:solidFill>
                <a:latin typeface="Aptos"/>
              </a:rPr>
              <a:t>Bound pumps, MFC, reactors, BPR and mixers to inventory IDs.</a:t>
            </a:r>
          </a:p>
        </p:txBody>
      </p:sp>
      <p:sp>
        <p:nvSpPr>
          <p:cNvPr id="17" name="Oval 16"/>
          <p:cNvSpPr/>
          <p:nvPr/>
        </p:nvSpPr>
        <p:spPr>
          <a:xfrm>
            <a:off x="8458200" y="5138927"/>
            <a:ext cx="118872" cy="118872"/>
          </a:xfrm>
          <a:prstGeom prst="ellipse">
            <a:avLst/>
          </a:prstGeom>
          <a:solidFill>
            <a:srgbClr val="087F73"/>
          </a:solidFill>
          <a:ln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102351"/>
            <a:ext cx="26974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202B"/>
                </a:solidFill>
                <a:latin typeface="Aptos"/>
              </a:rPr>
              <a:t>Published topology only after final deterministic closure.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5486400"/>
            <a:ext cx="3017520" cy="38404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559612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87F73"/>
                </a:solidFill>
                <a:latin typeface="Aptos"/>
              </a:rPr>
              <a:t>Result: 6/6 executable SCREEN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5E6A75"/>
                </a:solidFill>
                <a:latin typeface="Aptos"/>
              </a:rPr>
              <a:t>Three cases; one run per model–architecture–case cell; QA is not wet-lab yield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87F73"/>
                </a:solidFill>
                <a:latin typeface="Aptos"/>
              </a:rPr>
              <a:t>FlowPilot | NewGen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2011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6A75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5202B"/>
                </a:solidFill>
                <a:latin typeface="Aptos"/>
              </a:rPr>
              <a:t>Presentation conclusion: architecture, not model size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E6A75"/>
                </a:solidFill>
                <a:latin typeface="Aptos"/>
              </a:rPr>
              <a:t>The local 27B model in FlowPilot reaches essentially the same mean assurance as GPT-5.4 in FlowPilot.</a:t>
            </a:r>
          </a:p>
        </p:txBody>
      </p:sp>
      <p:pic>
        <p:nvPicPr>
          <p:cNvPr id="6" name="Picture 5" descr="aggregate_architecture_up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6192"/>
            <a:ext cx="6629400" cy="32131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673352"/>
            <a:ext cx="4187952" cy="19659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2700">
            <a:solidFill>
              <a:srgbClr val="08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411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7F73"/>
                </a:solidFill>
                <a:latin typeface="Aptos"/>
              </a:rPr>
              <a:t>Defensible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2322576"/>
            <a:ext cx="35204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5202B"/>
                </a:solidFill>
                <a:latin typeface="Aptos"/>
              </a:rPr>
              <a:t>Across these three inventory-constrained cases, FlowPilot improved universal design-assurance scores for both Qwen3.6-27B and GPT-5.4, and produced executable screening contracts in every full-pipeline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886200"/>
            <a:ext cx="4187952" cy="2029968"/>
          </a:xfrm>
          <a:prstGeom prst="roundRect">
            <a:avLst>
              <a:gd name="adj" fmla="val 6000"/>
            </a:avLst>
          </a:prstGeom>
          <a:solidFill>
            <a:srgbClr val="FFF6E5"/>
          </a:solidFill>
          <a:ln w="12700">
            <a:solidFill>
              <a:srgbClr val="F0D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411480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18B20"/>
                </a:solidFill>
                <a:latin typeface="Aptos"/>
              </a:rPr>
              <a:t>Do not overclaim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4517136"/>
            <a:ext cx="342900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5202B"/>
                </a:solidFill>
                <a:latin typeface="Aptos"/>
              </a:rPr>
              <a:t>• n = 3 cases and one run per cell
• no statistical significance claim
• scores assess design assurance, not reaction yield
• final designs remain SCREEN until wet-lab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11155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5E6A75"/>
                </a:solidFill>
                <a:latin typeface="Aptos"/>
              </a:rPr>
              <a:t>Recommended next step: pre-register a larger repeated benchmark and separately report wet-lab predictive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